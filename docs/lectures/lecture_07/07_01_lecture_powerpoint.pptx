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jwilber.me/permutationtest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6 - A Brief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Hypotheses</a:t>
            </a:r>
          </a:p>
          <a:p>
            <a:pPr lvl="0"/>
            <a:r>
              <a:rPr/>
              <a:t>1- and 2-sided T tests</a:t>
            </a:r>
          </a:p>
          <a:p>
            <a:pPr lvl="0"/>
            <a:r>
              <a:rPr/>
              <a:t>Power - what is it and why talk about it.</a:t>
            </a:r>
          </a:p>
          <a:p>
            <a:pPr lvl="0"/>
            <a:r>
              <a:rPr b="1"/>
              <a:t>Assumptions of parametric tests</a:t>
            </a:r>
          </a:p>
          <a:p>
            <a:pPr lvl="0"/>
            <a:r>
              <a:rPr/>
              <a:t>What next — WHEN ASSUMPTIONS FAIL!</a:t>
            </a:r>
          </a:p>
          <a:p>
            <a:pPr lvl="1"/>
            <a:r>
              <a:rPr/>
              <a:t>we will always cover parametric tests</a:t>
            </a:r>
          </a:p>
          <a:p>
            <a:pPr lvl="1"/>
            <a:r>
              <a:rPr/>
              <a:t>then we will cover non parametric approaches</a:t>
            </a:r>
          </a:p>
          <a:p>
            <a:pPr lvl="1"/>
            <a:r>
              <a:rPr/>
              <a:t>later on we will explore other approaches to use the appropriate underlying distribution that is not normal but Poisson or other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will cover today: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Robust tests</a:t>
            </a:r>
          </a:p>
          <a:p>
            <a:pPr lvl="1"/>
            <a:r>
              <a:rPr/>
              <a:t>Rank-based tests</a:t>
            </a:r>
          </a:p>
          <a:p>
            <a:pPr lvl="1"/>
            <a:r>
              <a:rPr/>
              <a:t>Permutation 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work with the Lake Trout data as the weights are pretty cool and the assumptions may or may not hold</a:t>
            </a:r>
          </a:p>
          <a:p>
            <a:pPr lvl="0" indent="0" marL="0">
              <a:buNone/>
            </a:pPr>
            <a:r>
              <a:rPr/>
              <a:t>This is easily translated into any of the other dataframes you might want to use</a:t>
            </a:r>
          </a:p>
          <a:p>
            <a:pPr lvl="0" indent="0" marL="0">
              <a:buNone/>
            </a:pPr>
            <a:r>
              <a:rPr/>
              <a:t>lake trout</a:t>
            </a:r>
          </a:p>
        </p:txBody>
      </p:sp>
      <p:pic>
        <p:nvPicPr>
          <p:cNvPr descr="images/lake_trou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22098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Setting Up Our Analysis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Lake Trout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6 × 5
  sampling_site species    length_mm mass_g lake 
  &lt;chr&gt;         &lt;chr&gt;          &lt;dbl&gt;  &lt;dbl&gt; &lt;chr&gt;
1 I8            lake trout       515   1400 I8   
2 I8            lake trout       468   1100 I8   
3 I8            lake trout       527   1550 I8   
4 I8            lake trout       525   1350 I8   
5 I8            lake trout       517   1300 I8   
6 I8            lake trout       607   2100 I8  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# Groups:   lake [6]
  lake        mode_mass
  &lt;chr&gt;           &lt;dbl&gt;
1 I8               1000
2 Island Lake      2200
3 N 01             1000
4 NE 12              90
5 NE 14            1150
6 Toolik            340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Parametric versus 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T-tests are </a:t>
            </a:r>
            <a:r>
              <a:rPr b="1"/>
              <a:t>parametric</a:t>
            </a:r>
            <a:r>
              <a:rPr/>
              <a:t> tests</a:t>
            </a:r>
          </a:p>
          <a:p>
            <a:pPr lvl="0"/>
            <a:r>
              <a:rPr/>
              <a:t>Parametric tests:</a:t>
            </a:r>
          </a:p>
          <a:p>
            <a:pPr lvl="1"/>
            <a:r>
              <a:rPr/>
              <a:t>specify/assume probability distribution from which parameters came</a:t>
            </a:r>
          </a:p>
          <a:p>
            <a:pPr lvl="1"/>
            <a:r>
              <a:rPr/>
              <a:t>Basic assumptions of parametric t-tests:</a:t>
            </a:r>
          </a:p>
          <a:p>
            <a:pPr lvl="2"/>
            <a:r>
              <a:rPr/>
              <a:t>Random sampling</a:t>
            </a:r>
          </a:p>
          <a:p>
            <a:pPr lvl="2"/>
            <a:r>
              <a:rPr/>
              <a:t>Normality</a:t>
            </a:r>
          </a:p>
          <a:p>
            <a:pPr lvl="2"/>
            <a:r>
              <a:rPr/>
              <a:t>Equal variance (or Welches T Test)</a:t>
            </a:r>
          </a:p>
          <a:p>
            <a:pPr lvl="2"/>
            <a:r>
              <a:rPr/>
              <a:t>No outliers</a:t>
            </a:r>
          </a:p>
          <a:p>
            <a:pPr lvl="0"/>
            <a:r>
              <a:rPr/>
              <a:t>Non-parametric tests: no assumption about probability distribution/normality</a:t>
            </a:r>
          </a:p>
          <a:p>
            <a:pPr lvl="1"/>
            <a:r>
              <a:rPr/>
              <a:t>Mukasa et al 2021 DOI: 10.4236/ojbm.2021.93081</a:t>
            </a:r>
          </a:p>
        </p:txBody>
      </p:sp>
      <p:pic>
        <p:nvPicPr>
          <p:cNvPr descr="images/clipboard-294824978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812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If assumptions of parametric test violated, test becomes unreliable</a:t>
            </a:r>
          </a:p>
          <a:p>
            <a:pPr lvl="0"/>
            <a:r>
              <a:rPr/>
              <a:t>This is because test statistic may no longer follow distribution</a:t>
            </a:r>
          </a:p>
          <a:p>
            <a:pPr lvl="0"/>
            <a:r>
              <a:rPr/>
              <a:t>Most parametric tests robust to mild/moderate violations of normality assumptions</a:t>
            </a:r>
          </a:p>
        </p:txBody>
      </p:sp>
      <p:pic>
        <p:nvPicPr>
          <p:cNvPr descr="images/clipboard-286482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Random sampling:</a:t>
            </a:r>
          </a:p>
          <a:p>
            <a:pPr lvl="1"/>
            <a:r>
              <a:rPr/>
              <a:t>samples are randomly collected from populations; part of experimental design</a:t>
            </a:r>
          </a:p>
          <a:p>
            <a:pPr lvl="1"/>
            <a:r>
              <a:rPr/>
              <a:t>Necessary for sample -&gt; population inference</a:t>
            </a:r>
          </a:p>
        </p:txBody>
      </p:sp>
      <p:pic>
        <p:nvPicPr>
          <p:cNvPr descr="images/clipboard-25266167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17600"/>
            <a:ext cx="27813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Normality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 b="1"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</p:txBody>
      </p:sp>
      <p:pic>
        <p:nvPicPr>
          <p:cNvPr descr="07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Shapiro-Wilk Test for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  <a:p>
            <a:pPr lvl="0" indent="0" marL="0">
              <a:buNone/>
            </a:pPr>
            <a:r>
              <a:rPr/>
              <a:t>“Null hypothesis is that data is normally distributed”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ne12_data$length_mm
W = 0.94528, p-value = 1.56e-09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Equal Variance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 indent="0" marL="0">
              <a:buNone/>
            </a:pPr>
            <a:r>
              <a:rPr/>
              <a:t>Equal variance: samples are from populations with similar degree of variability</a:t>
            </a:r>
          </a:p>
          <a:p>
            <a:pPr lvl="0"/>
            <a:r>
              <a:rPr/>
              <a:t>Graphical tests: boxplots</a:t>
            </a:r>
          </a:p>
          <a:p>
            <a:pPr lvl="0"/>
            <a:r>
              <a:rPr/>
              <a:t>“Formal” tests: F-ratio test</a:t>
            </a:r>
          </a:p>
          <a:p>
            <a:pPr lvl="0"/>
            <a:r>
              <a:rPr/>
              <a:t>When samples sizes equal</a:t>
            </a:r>
          </a:p>
          <a:p>
            <a:pPr lvl="1"/>
            <a:r>
              <a:rPr/>
              <a:t>Parametric tests most robust to violations of normality</a:t>
            </a:r>
          </a:p>
          <a:p>
            <a:pPr lvl="1"/>
            <a:r>
              <a:rPr/>
              <a:t>Less so for equal variation assumptions</a:t>
            </a:r>
          </a:p>
        </p:txBody>
      </p:sp>
      <p:pic>
        <p:nvPicPr>
          <p:cNvPr descr="07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for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No outliers: no “extreme” values that are very different from rest of sample</a:t>
            </a:r>
          </a:p>
          <a:p>
            <a:pPr lvl="1"/>
            <a:r>
              <a:rPr/>
              <a:t>Graphical tests: boxplots, histograms</a:t>
            </a:r>
          </a:p>
          <a:p>
            <a:pPr lvl="1"/>
            <a:r>
              <a:rPr/>
              <a:t>“Formal tests”: Grubb’s test - no one really does this</a:t>
            </a:r>
          </a:p>
          <a:p>
            <a:pPr lvl="1"/>
            <a:r>
              <a:rPr b="1"/>
              <a:t>Note: outliers a problem for non-parametric tests as well</a:t>
            </a:r>
          </a:p>
        </p:txBody>
      </p:sp>
      <p:pic>
        <p:nvPicPr>
          <p:cNvPr descr="07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Alternative Tests When Assumptions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if T Test assumptions fail?</a:t>
            </a:r>
          </a:p>
          <a:p>
            <a:pPr lvl="0"/>
            <a:r>
              <a:rPr/>
              <a:t>Alternative tests, with more relaxed assumptions, are available</a:t>
            </a:r>
          </a:p>
          <a:p>
            <a:pPr lvl="0"/>
            <a:r>
              <a:rPr/>
              <a:t>In which case would you use the following tests?</a:t>
            </a:r>
          </a:p>
          <a:p>
            <a:pPr lvl="1"/>
            <a:r>
              <a:rPr/>
              <a:t>Welch’s t-test: </a:t>
            </a:r>
            <a:r>
              <a:rPr i="1"/>
              <a:t>when distribution normal but variance unequal</a:t>
            </a:r>
          </a:p>
          <a:p>
            <a:pPr lvl="1"/>
            <a:r>
              <a:rPr/>
              <a:t>Mann-Whitney-Wilcoxon test: </a:t>
            </a:r>
            <a:r>
              <a:rPr i="1"/>
              <a:t>when distribution not normal and/or outliers are present (but both groups should still have similar distributions and ~equal variance)</a:t>
            </a:r>
          </a:p>
          <a:p>
            <a:pPr lvl="1"/>
            <a:r>
              <a:rPr/>
              <a:t>Permutation test for two samples: </a:t>
            </a:r>
            <a:r>
              <a:rPr i="1"/>
              <a:t>when distribution not normal (but both groups should still have similar distributions and ~equal variance)</a:t>
            </a:r>
          </a:p>
        </p:txBody>
      </p:sp>
      <p:pic>
        <p:nvPicPr>
          <p:cNvPr descr="07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QQ-Plots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QQ-plots: tool for assessing normality</a:t>
            </a:r>
          </a:p>
          <a:p>
            <a:pPr lvl="0"/>
            <a:r>
              <a:rPr/>
              <a:t>On x- theoretical quantiles from SND</a:t>
            </a:r>
          </a:p>
          <a:p>
            <a:pPr lvl="0"/>
            <a:r>
              <a:rPr/>
              <a:t>On y- ordered sample values</a:t>
            </a:r>
          </a:p>
          <a:p>
            <a:pPr lvl="0"/>
            <a:r>
              <a:rPr/>
              <a:t>Deviation from normal can be detected as deviation from straight line</a:t>
            </a:r>
          </a:p>
        </p:txBody>
      </p:sp>
      <p:pic>
        <p:nvPicPr>
          <p:cNvPr descr="07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some cases, data can be mathematically “transformed” to meet assumptions of parametric tests</a:t>
            </a:r>
          </a:p>
          <a:p>
            <a:pPr lvl="0"/>
            <a:r>
              <a:rPr/>
              <a:t>this can be done in r and usually involves</a:t>
            </a:r>
          </a:p>
          <a:p>
            <a:pPr lvl="1"/>
            <a:r>
              <a:rPr/>
              <a:t>log10 transformations</a:t>
            </a:r>
          </a:p>
          <a:p>
            <a:pPr lvl="1"/>
            <a:r>
              <a:rPr/>
              <a:t>square root transformations</a:t>
            </a:r>
          </a:p>
          <a:p>
            <a:pPr lvl="1"/>
            <a:r>
              <a:rPr/>
              <a:t>and many others… I will have a description soon</a:t>
            </a:r>
          </a:p>
        </p:txBody>
      </p:sp>
      <p:pic>
        <p:nvPicPr>
          <p:cNvPr descr="images/transformations_2%20jp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tests -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Welch’s t-test</a:t>
            </a:r>
          </a:p>
          <a:p>
            <a:pPr lvl="1"/>
            <a:r>
              <a:rPr/>
              <a:t>common “robust” test for means of two populations</a:t>
            </a:r>
          </a:p>
          <a:p>
            <a:pPr lvl="1"/>
            <a:r>
              <a:rPr/>
              <a:t>Robust to violation of equal variance assumption, deals better with unequal sample size</a:t>
            </a:r>
          </a:p>
          <a:p>
            <a:pPr lvl="1"/>
            <a:r>
              <a:rPr/>
              <a:t>Parametric test (assumes normal distribution)</a:t>
            </a:r>
          </a:p>
          <a:p>
            <a:pPr lvl="1"/>
            <a:r>
              <a:rPr/>
              <a:t>Calculates a t statistic but recalculates df based on samples sizes and s</a:t>
            </a:r>
          </a:p>
        </p:txBody>
      </p:sp>
      <p:pic>
        <p:nvPicPr>
          <p:cNvPr descr="07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Standard T-Test vs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Lets compare a parametric T-Test to a Welch’s t-test</a:t>
            </a:r>
          </a:p>
          <a:p>
            <a:pPr lvl="1"/>
            <a:r>
              <a:rPr/>
              <a:t>T-Test is:</a:t>
            </a:r>
          </a:p>
          <a:p>
            <a:pPr lvl="2"/>
            <a:r>
              <a:rPr b="1"/>
              <a:t>t.test(y1, y2, var.equal = TRUE, paired = FALSE)</a:t>
            </a:r>
          </a:p>
          <a:p>
            <a:pPr lvl="1"/>
            <a:r>
              <a:rPr/>
              <a:t>Welch’s T-Test is:</a:t>
            </a:r>
          </a:p>
          <a:p>
            <a:pPr lvl="2"/>
            <a:r>
              <a:rPr b="1"/>
              <a:t>t.test(y1, y2, var.equal = FALSE, paired = FALSE)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mass_g by lake
t = 14.181, df = 330, p-value &lt; 2.2e-16
alternative hypothesis: true difference in means between group Island Lake and group NE 12 is not equal to 0
95 percent confidence interval:
 2266.304 2996.360
sample estimates:
mean in group Island Lake       mean in group NE 12 
                3165.0000                  533.6677 </a:t>
            </a:r>
          </a:p>
          <a:p>
            <a:pPr lvl="0" indent="0">
              <a:buNone/>
            </a:pPr>
            <a:r>
              <a:rPr>
                <a:latin typeface="Courier"/>
              </a:rPr>
              <a:t>[1] "Welch's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lake
t = 5.1368, df = 9.0578, p-value = 0.0006016
alternative hypothesis: true difference in means between group Island Lake and group NE 12 is not equal to 0
95 percent confidence interval:
 1473.676 3788.989
sample estimates:
mean in group Island Lake       mean in group NE 12 
                3165.0000                  533.6677 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Rank-based tests: no assumptions about distribution (non-parametric)</a:t>
            </a:r>
          </a:p>
          <a:p>
            <a:pPr lvl="0"/>
            <a:r>
              <a:rPr/>
              <a:t>Ranks of data: observations assigned ranks, sums (and signs for paired tests) of ranks for groups compared</a:t>
            </a:r>
          </a:p>
          <a:p>
            <a:pPr lvl="0"/>
            <a:r>
              <a:rPr b="1"/>
              <a:t>Mann-Whitney U test</a:t>
            </a:r>
            <a:r>
              <a:rPr/>
              <a:t> common alternative to independent samples t-test</a:t>
            </a:r>
          </a:p>
          <a:p>
            <a:pPr lvl="0"/>
            <a:r>
              <a:rPr b="1"/>
              <a:t>Wilcoxon signed-rank</a:t>
            </a:r>
            <a:r>
              <a:rPr/>
              <a:t> test is alternative to paired t-test</a:t>
            </a:r>
          </a:p>
          <a:p>
            <a:pPr lvl="0"/>
            <a:r>
              <a:rPr/>
              <a:t>Assumptions: similar distributions for groups, equal variance</a:t>
            </a:r>
          </a:p>
          <a:p>
            <a:pPr lvl="0"/>
            <a:r>
              <a:rPr/>
              <a:t>Less power than parametric tests</a:t>
            </a:r>
          </a:p>
          <a:p>
            <a:pPr lvl="0"/>
            <a:r>
              <a:rPr/>
              <a:t>Best when normality assumption can not be met by transformation (weird distribution) or large outliers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Mann-Whitney U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"Mann-Whitney U test results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 with continuity correction
data:  mass_g by lake
W = 3205.5, p-value = 9.506e-08
alternative hypothesis: true location shift is not equal to 0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Permutation tests based on resampling: reshuffling of original data</a:t>
            </a:r>
          </a:p>
          <a:p>
            <a:pPr lvl="0"/>
            <a:r>
              <a:rPr/>
              <a:t>Resampling allows parameter estimation when distribution unknown, including SEs and CIs of statistics (means, medians)</a:t>
            </a:r>
          </a:p>
          <a:p>
            <a:pPr lvl="0"/>
            <a:r>
              <a:rPr/>
              <a:t>Common approach is bootstrap: resample sample with replacement many times, recalculate sample stats</a:t>
            </a:r>
          </a:p>
          <a:p>
            <a:pPr lvl="0"/>
            <a:r>
              <a:rPr/>
              <a:t>Use the </a:t>
            </a:r>
            <a:r>
              <a:rPr>
                <a:latin typeface="Courier"/>
              </a:rPr>
              <a:t>perm</a:t>
            </a:r>
            <a:r>
              <a:rPr/>
              <a:t> package</a:t>
            </a:r>
          </a:p>
          <a:p>
            <a:pPr lvl="0"/>
            <a:r>
              <a:rPr/>
              <a:t>Ho: µ</a:t>
            </a:r>
            <a:r>
              <a:rPr baseline="-25000"/>
              <a:t>A</a:t>
            </a:r>
            <a:r>
              <a:rPr/>
              <a:t> = µ</a:t>
            </a:r>
            <a:r>
              <a:rPr baseline="-25000"/>
              <a:t>B</a:t>
            </a:r>
          </a:p>
          <a:p>
            <a:pPr lvl="0"/>
            <a:r>
              <a:rPr/>
              <a:t>Ha: µ</a:t>
            </a:r>
            <a:r>
              <a:rPr baseline="-25000"/>
              <a:t>A</a:t>
            </a:r>
            <a:r>
              <a:rPr/>
              <a:t> ≠µ</a:t>
            </a:r>
            <a:r>
              <a:rPr baseline="-25000"/>
              <a:t>B</a:t>
            </a:r>
          </a:p>
          <a:p>
            <a:pPr lvl="0"/>
            <a:r>
              <a:rPr/>
              <a:t>Calculates the difference ∆ in means between two groups</a:t>
            </a:r>
          </a:p>
        </p:txBody>
      </p:sp>
      <p:pic>
        <p:nvPicPr>
          <p:cNvPr descr="07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Randomly reshuffle observations between groups (keeping n~NE 12~=323 and n</a:t>
            </a:r>
            <a:r>
              <a:rPr baseline="-25000"/>
              <a:t>Island</a:t>
            </a:r>
            <a:r>
              <a:rPr/>
              <a:t>=10), calculate ∆</a:t>
            </a:r>
          </a:p>
          <a:p>
            <a:pPr lvl="0"/>
            <a:r>
              <a:rPr/>
              <a:t>Repeat &gt;1,000 times</a:t>
            </a:r>
          </a:p>
          <a:p>
            <a:pPr lvl="0"/>
            <a:r>
              <a:rPr/>
              <a:t>Record proportion of the different means i</a:t>
            </a:r>
          </a:p>
          <a:p>
            <a:pPr lvl="0"/>
            <a:r>
              <a:rPr/>
              <a:t>This is equivalent to p-value and can be used in “traditional” H test framework</a:t>
            </a:r>
          </a:p>
          <a:p>
            <a:pPr lvl="0"/>
            <a:r>
              <a:rPr/>
              <a:t>For a graphical explanation:</a:t>
            </a:r>
          </a:p>
          <a:p>
            <a:pPr lvl="1"/>
            <a:r>
              <a:rPr>
                <a:hlinkClick r:id="rId2"/>
              </a:rPr>
              <a:t>Graphical Explanation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Permutation Test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R (using ‘perm’ package):</a:t>
            </a:r>
          </a:p>
          <a:p>
            <a:pPr lvl="0"/>
            <a:r>
              <a:rPr/>
              <a:t>Assumptions: both groups have similar distribution; equal variance</a:t>
            </a:r>
          </a:p>
          <a:p>
            <a:pPr lvl="0" indent="0">
              <a:buNone/>
            </a:pPr>
            <a:r>
              <a:rPr>
                <a:latin typeface="Courier"/>
              </a:rPr>
              <a:t>
    Exact Permutation Test Estimated by Monte Carlo
data:  GROUP 1 and GROUP 2
p-value = 2e-04
alternative hypothesis: true mean GROUP 1 - mean GROUP 2 is not equal to 0
sample estimates:
mean GROUP 1 - mean GROUP 2 
                    -333.08 
p-value estimated from 10000 Monte Carlo replications
99 percent confidence interval on p-value:
 0.000000000 0.001059383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Testing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of Parametric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Assumptions</a:t>
            </a:r>
          </a:p>
          <a:p>
            <a:pPr lvl="0"/>
            <a:r>
              <a:rPr b="1"/>
              <a:t>Random sampling</a:t>
            </a:r>
            <a:r>
              <a:rPr/>
              <a:t>: Samples are randomly collected from populations</a:t>
            </a:r>
          </a:p>
          <a:p>
            <a:pPr lvl="0"/>
            <a:r>
              <a:rPr b="1"/>
              <a:t>Normality</a:t>
            </a:r>
            <a:r>
              <a:rPr/>
              <a:t>: Data follows a normal distribution</a:t>
            </a:r>
          </a:p>
          <a:p>
            <a:pPr lvl="0"/>
            <a:r>
              <a:rPr b="1"/>
              <a:t>Equal variance</a:t>
            </a:r>
            <a:r>
              <a:rPr/>
              <a:t>: Samples come from populations with similar variability</a:t>
            </a:r>
          </a:p>
          <a:p>
            <a:pPr lvl="0"/>
            <a:r>
              <a:rPr b="1"/>
              <a:t>No outliers</a:t>
            </a:r>
            <a:r>
              <a:rPr/>
              <a:t>: No extreme values that can skew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Assessing Assumptions</a:t>
            </a:r>
          </a:p>
          <a:p>
            <a:pPr lvl="0"/>
            <a:r>
              <a:rPr/>
              <a:t>Key to do every time</a:t>
            </a:r>
          </a:p>
          <a:p>
            <a:pPr lvl="0"/>
            <a:r>
              <a:rPr/>
              <a:t>Should acknowledge in manuscript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Transformations</a:t>
            </a:r>
          </a:p>
          <a:p>
            <a:pPr lvl="0" indent="0" marL="0">
              <a:buNone/>
            </a:pPr>
            <a:r>
              <a:rPr/>
              <a:t>When assumptions aren’t met, transformations may help normalize data:</a:t>
            </a:r>
          </a:p>
          <a:p>
            <a:pPr lvl="0"/>
            <a:r>
              <a:rPr b="1"/>
              <a:t>Log transformation</a:t>
            </a:r>
            <a:r>
              <a:rPr/>
              <a:t>: </a:t>
            </a:r>
            <a:r>
              <a:rPr>
                <a:latin typeface="Courier"/>
              </a:rPr>
              <a:t>log10(x)</a:t>
            </a:r>
            <a:r>
              <a:rPr/>
              <a:t> - Useful for right-skewed data, multiplicative effects</a:t>
            </a:r>
          </a:p>
          <a:p>
            <a:pPr lvl="0"/>
            <a:r>
              <a:rPr b="1"/>
              <a:t>Square root</a:t>
            </a:r>
            <a:r>
              <a:rPr/>
              <a:t>: </a:t>
            </a:r>
            <a:r>
              <a:rPr>
                <a:latin typeface="Courier"/>
              </a:rPr>
              <a:t>sqrt(x)</a:t>
            </a:r>
            <a:r>
              <a:rPr/>
              <a:t> - Useful for count data, moderately right-skewed distributions</a:t>
            </a:r>
          </a:p>
          <a:p>
            <a:pPr lvl="0"/>
            <a:r>
              <a:rPr b="1"/>
              <a:t>Box-Cox</a:t>
            </a:r>
            <a:r>
              <a:rPr/>
              <a:t>: More flexible family of power transformations</a:t>
            </a:r>
          </a:p>
          <a:p>
            <a:pPr lvl="0"/>
            <a:r>
              <a:rPr b="1"/>
              <a:t>More specialized transformations</a:t>
            </a:r>
            <a:r>
              <a:rPr/>
              <a:t> especially for percentages or proportions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Parametric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Standard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High statistical power when assumptions are met</a:t>
            </a:r>
          </a:p>
          <a:p>
            <a:pPr lvl="1"/>
            <a:r>
              <a:rPr/>
              <a:t>- Well understood and widely accepted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Sensitive to violations of normality, equal variance</a:t>
            </a:r>
          </a:p>
          <a:p>
            <a:pPr lvl="1"/>
            <a:r>
              <a:rPr/>
              <a:t>- Heavily influenced by outliers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Welch’s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Robust to violations of equal variance assumption</a:t>
            </a:r>
          </a:p>
          <a:p>
            <a:pPr lvl="1"/>
            <a:r>
              <a:rPr/>
              <a:t>- Handles unequal sample sizes well</a:t>
            </a:r>
          </a:p>
          <a:p>
            <a:pPr lvl="1"/>
            <a:r>
              <a:rPr/>
              <a:t>- Still parametric (assumes normality)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Slightly less powerful than standard t-test when variances are equal</a:t>
            </a:r>
          </a:p>
          <a:p>
            <a:pPr lvl="1"/>
            <a:r>
              <a:rPr/>
              <a:t>- Still assumes normal distribution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Non-Parametric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Mann-Whitney-Wilcoxon 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Non-parametric: doesn’t assume normal distribution</a:t>
            </a:r>
          </a:p>
          <a:p>
            <a:pPr lvl="1"/>
            <a:r>
              <a:rPr/>
              <a:t>- Robust against outliers</a:t>
            </a:r>
          </a:p>
          <a:p>
            <a:pPr lvl="1"/>
            <a:r>
              <a:rPr/>
              <a:t>- Works with ordinal data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Less statistical power than parametric tests</a:t>
            </a:r>
          </a:p>
          <a:p>
            <a:pPr lvl="1"/>
            <a:r>
              <a:rPr/>
              <a:t>- Still assumes similar distributions and approximate equal variance</a:t>
            </a:r>
          </a:p>
          <a:p>
            <a:pPr lvl="1"/>
            <a:r>
              <a:rPr/>
              <a:t>- Tests median differences rather than mean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Permutation Tests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Distribution-free: doesn’t assume a specific distribution</a:t>
            </a:r>
          </a:p>
          <a:p>
            <a:pPr lvl="1"/>
            <a:r>
              <a:rPr/>
              <a:t>- Can be applied to many types of test statistics</a:t>
            </a:r>
          </a:p>
          <a:p>
            <a:pPr lvl="1"/>
            <a:r>
              <a:rPr/>
              <a:t>- Handles small sample sizes well</a:t>
            </a:r>
          </a:p>
          <a:p>
            <a:pPr lvl="1"/>
            <a:r>
              <a:rPr/>
              <a:t>- Directly estimates p-values through resampling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Computationally intensive</a:t>
            </a:r>
          </a:p>
          <a:p>
            <a:pPr lvl="1"/>
            <a:r>
              <a:rPr/>
              <a:t>- Assumes exchangeability under the null hypothesis</a:t>
            </a:r>
          </a:p>
          <a:p>
            <a:pPr lvl="1"/>
            <a:r>
              <a:rPr/>
              <a:t>- Requires similar distributions and equal variance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tests have different strengths and assumptions. The choice should be guided by your data characteristics, not just convenience. Always visualize your data before deciding on the appropriate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</dc:title>
  <dc:creator>Bill Perry</dc:creator>
  <cp:keywords/>
  <dcterms:created xsi:type="dcterms:W3CDTF">2026-05-04T01:10:07Z</dcterms:created>
  <dcterms:modified xsi:type="dcterms:W3CDTF">2026-05-04T01:10:07Z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