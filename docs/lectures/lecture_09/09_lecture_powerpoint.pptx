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8: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09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0" marL="0">
              <a:buNone/>
            </a:pPr>
            <a:r>
              <a:rPr/>
              <a:t>This lecture covers two fundamental statistical techniques in biology: correlation and regression analysis. Based on Chapters 16-17 from Whitlock &amp; Schluter’s </a:t>
            </a:r>
            <a:r>
              <a:rPr i="1"/>
              <a:t>The Analysis of Biological Data</a:t>
            </a:r>
            <a:r>
              <a:rPr/>
              <a:t> (3rd edition), we’ll explore:</a:t>
            </a:r>
          </a:p>
          <a:p>
            <a:pPr lvl="0"/>
            <a:r>
              <a:rPr/>
              <a:t>Correlation analysis: measuring relationships between variables</a:t>
            </a:r>
          </a:p>
          <a:p>
            <a:pPr lvl="0"/>
            <a:r>
              <a:rPr/>
              <a:t>The distinction between correlation and regression</a:t>
            </a:r>
          </a:p>
          <a:p>
            <a:pPr lvl="0"/>
            <a:r>
              <a:rPr/>
              <a:t>Simple linear regression: predicting one variable from another</a:t>
            </a:r>
          </a:p>
          <a:p>
            <a:pPr lvl="0"/>
            <a:r>
              <a:rPr/>
              <a:t>Estimating and interpreting regression parameters</a:t>
            </a:r>
          </a:p>
          <a:p>
            <a:pPr lvl="0"/>
            <a:r>
              <a:rPr/>
              <a:t>Testing assumptions and handling violations</a:t>
            </a:r>
          </a:p>
          <a:p>
            <a:pPr lvl="0"/>
            <a:r>
              <a:rPr/>
              <a:t>Analysis of variance in regression</a:t>
            </a:r>
          </a:p>
          <a:p>
            <a:pPr lvl="0"/>
            <a:r>
              <a:rPr/>
              <a:t>Model selection and comparison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vs. Regression: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Difference?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Analysis:</a:t>
            </a:r>
          </a:p>
          <a:p>
            <a:pPr lvl="0"/>
            <a:r>
              <a:rPr/>
              <a:t>Measures the strength and direction of a relationship between two numerical variables</a:t>
            </a:r>
          </a:p>
          <a:p>
            <a:pPr lvl="0"/>
            <a:r>
              <a:rPr/>
              <a:t>Both X and Y are random variables (both measured, neither manipulated)</a:t>
            </a:r>
          </a:p>
          <a:p>
            <a:pPr lvl="0"/>
            <a:r>
              <a:rPr/>
              <a:t>Variables are typically on equal footing (either could be X or Y)</a:t>
            </a:r>
          </a:p>
          <a:p>
            <a:pPr lvl="0"/>
            <a:r>
              <a:rPr/>
              <a:t>No cause-effect relationship implied</a:t>
            </a:r>
          </a:p>
          <a:p>
            <a:pPr lvl="0"/>
            <a:r>
              <a:rPr/>
              <a:t>Quantifies the degree to which variables are related</a:t>
            </a:r>
          </a:p>
          <a:p>
            <a:pPr lvl="0"/>
            <a:r>
              <a:rPr/>
              <a:t>Expressed as a correlation coefficient (r) from -1 to +1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Analysis:</a:t>
            </a:r>
          </a:p>
          <a:p>
            <a:pPr lvl="0"/>
            <a:r>
              <a:rPr/>
              <a:t>Predicts one variable (Y) from another (X)</a:t>
            </a:r>
          </a:p>
          <a:p>
            <a:pPr lvl="0"/>
            <a:r>
              <a:rPr/>
              <a:t>X is often fixed or controlled (manipulated)</a:t>
            </a:r>
          </a:p>
          <a:p>
            <a:pPr lvl="0"/>
            <a:r>
              <a:rPr/>
              <a:t>Y is the response variable of interest</a:t>
            </a:r>
          </a:p>
          <a:p>
            <a:pPr lvl="0"/>
            <a:r>
              <a:rPr/>
              <a:t>Often implies a cause-effect relationship</a:t>
            </a:r>
          </a:p>
          <a:p>
            <a:pPr lvl="0"/>
            <a:r>
              <a:rPr/>
              <a:t>Produces an equation for prediction with slope and intercept parameters</a:t>
            </a:r>
          </a:p>
        </p:txBody>
      </p:sp>
      <p:pic>
        <p:nvPicPr>
          <p:cNvPr descr="09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Is Correlation?</a:t>
                </a:r>
              </a:p>
              <a:p>
                <a:pPr lvl="0" indent="0" marL="0">
                  <a:buNone/>
                </a:pPr>
                <a:r>
                  <a:rPr b="1"/>
                  <a:t>Correlation analysis</a:t>
                </a:r>
                <a:r>
                  <a:rPr/>
                  <a:t> measures the strength and direction of a relationship between two numerical variables:</a:t>
                </a:r>
              </a:p>
              <a:p>
                <a:pPr lvl="0"/>
                <a:r>
                  <a:rPr/>
                  <a:t>Ranges from -1 to +1</a:t>
                </a:r>
              </a:p>
              <a:p>
                <a:pPr lvl="0"/>
                <a:r>
                  <a:rPr/>
                  <a:t>+1 indicates perfect positive correlation</a:t>
                </a:r>
              </a:p>
              <a:p>
                <a:pPr lvl="0"/>
                <a:r>
                  <a:rPr/>
                  <a:t>0 indicates no correlation</a:t>
                </a:r>
              </a:p>
              <a:p>
                <a:pPr lvl="0"/>
                <a:r>
                  <a:rPr/>
                  <a:t>-1 indicates perfect negative correlation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Pearson correlation coefficient (r)</a:t>
                </a:r>
                <a:r>
                  <a:rPr/>
                  <a:t>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can be simplified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Covariance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are the standard deviations of X and Y.</a:t>
                </a:r>
              </a:p>
            </p:txBody>
          </p:sp>
        </mc:Choice>
      </mc:AlternateContent>
      <p:pic>
        <p:nvPicPr>
          <p:cNvPr descr="09_lecture_powerpoint_files/figure-pptx/overview-plot-1i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12800"/>
            <a:ext cx="27813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/>
                  <a:t>Nazca boobies (</a:t>
                </a:r>
                <a:r>
                  <a:rPr i="1"/>
                  <a:t>Sula granti</a:t>
                </a:r>
                <a:r>
                  <a:rPr/>
                  <a:t>) - Do aggressive behaviors as a chick predict future aggressive behavior as an adult?</a:t>
                </a:r>
              </a:p>
              <a:p>
                <a:pPr lvl="0"/>
                <a:r>
                  <a:rPr/>
                  <a:t>correlation is r = 0.534 - moderate positive relationship</a:t>
                </a:r>
              </a:p>
              <a:p>
                <a:pPr lvl="0"/>
                <a:r>
                  <a:rPr/>
                  <a:t>p-value = 0.007 correlation is statistically significant.</a:t>
                </a:r>
              </a:p>
              <a:p>
                <a:pPr lvl="0" indent="0" marL="0">
                  <a:buNone/>
                </a:pPr>
                <a:r>
                  <a:rPr/>
                  <a:t>For a Pearson correlation coefficient (r) of 0.53372:</a:t>
                </a:r>
              </a:p>
              <a:p>
                <a:pPr lvl="0"/>
                <a:r>
                  <a:rPr/>
                  <a:t>This is r (not rho as Spearman nonparametric below), as indicated by “cor” in your output</a:t>
                </a:r>
              </a:p>
              <a:p>
                <a:pPr lvl="0"/>
                <a:r>
                  <a:rPr/>
                  <a:t>To determine the amount of variation explained, you square this value: r² = 0.53372² = 0.2849 (or approximately 28.49%)</a:t>
                </a:r>
              </a:p>
              <a:p>
                <a:pPr lvl="0"/>
                <a:r>
                  <a:rPr/>
                  <a:t>means about 28.49% of the variance in one variable can be explained by the other variable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 that it is tested by a t test: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r</m:t>
                        </m:r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
    Pearson's product-moment correlation
data:  booby_data$visits_as_nestling and booby_data$future_aggression
t = 2.9603, df = 22, p-value = 0.007229
alternative hypothesis: true correlation is not equal to 0
95 percent confidence interval:
 0.1660840 0.7710999
sample estimates:
      cor 
0.5337225 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 b="1"/>
                  <a:t>Interpretation:</a:t>
                </a:r>
                <a:r>
                  <a:rPr/>
                  <a:t> The correlation coefficient of r = 0.534 suggests that Nazca boobies who experienced more visits from non-parent adults as nestlings tend to display more aggressive behavior as adults. This supports the hypothesis that early experiences influence adult behavior patterns in this species.</a:t>
                </a:r>
              </a:p>
              <a:p>
                <a:pPr lvl="0" indent="0" marL="0">
                  <a:buNone/>
                </a:pPr>
                <a:r>
                  <a:rPr b="1"/>
                  <a:t>Standard Error: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SE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r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SE = 0.180</a:t>
                </a:r>
              </a:p>
              <a:p>
                <a:pPr lvl="0" indent="0" marL="0">
                  <a:buNone/>
                </a:pPr>
                <a:r>
                  <a:rPr/>
                  <a:t>Need to be sure relationship is not curved - note below</a:t>
                </a:r>
              </a:p>
            </p:txBody>
          </p:sp>
        </mc:Choice>
      </mc:AlternateContent>
      <p:pic>
        <p:nvPicPr>
          <p:cNvPr descr="09_lecture_powerpoint_files/figure-pptx/overview-plot-1k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booby data: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booby_data$visits_as_nestling
W = 0.95783, p-value = 0.3965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booby_data$future_aggression
W = 0.91575, p-value = 0.04709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using the booby data</a:t>
            </a:r>
          </a:p>
        </p:txBody>
      </p:sp>
      <p:pic>
        <p:nvPicPr>
          <p:cNvPr descr="09_lecture_powerpoint_files/figure-pptx/overview-plot-1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do if assumptions are violated:</a:t>
            </a:r>
          </a:p>
          <a:p>
            <a:pPr lvl="0" indent="0" marL="0">
              <a:buNone/>
            </a:pPr>
            <a:r>
              <a:rPr/>
              <a:t>Transform one or both variables (log, square root, etc.)</a:t>
            </a:r>
          </a:p>
          <a:p>
            <a:pPr lvl="0" indent="0" marL="0">
              <a:buNone/>
            </a:pPr>
            <a:r>
              <a:rPr/>
              <a:t>Use non-parametric correlation (</a:t>
            </a:r>
            <a:r>
              <a:rPr b="1"/>
              <a:t>Spearman’s rank correlation</a:t>
            </a:r>
            <a:r>
              <a:rPr/>
              <a:t>) or Kendall’s tau 𝛕</a:t>
            </a:r>
          </a:p>
          <a:p>
            <a:pPr lvl="0" indent="0" marL="0">
              <a:buNone/>
            </a:pPr>
            <a:r>
              <a:rPr/>
              <a:t>Examine the data for outliers or influential points</a:t>
            </a:r>
          </a:p>
        </p:txBody>
      </p:sp>
      <p:pic>
        <p:nvPicPr>
          <p:cNvPr descr="09_lecture_powerpoint_files/figure-pptx/overview-plot-2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understand the amount of variation explained, you can square the non parametric Spearman’s rho value.</a:t>
            </a:r>
          </a:p>
          <a:p>
            <a:pPr lvl="0" indent="0" marL="0">
              <a:buNone/>
            </a:pPr>
            <a:r>
              <a:rPr/>
              <a:t>For your value of 0.74485:</a:t>
            </a:r>
          </a:p>
          <a:p>
            <a:pPr lvl="0" indent="0" marL="0">
              <a:buNone/>
            </a:pPr>
            <a:r>
              <a:rPr/>
              <a:t>ρ² = 0.74485² = 0.5548</a:t>
            </a:r>
          </a:p>
          <a:p>
            <a:pPr lvl="0" indent="0" marL="0">
              <a:buNone/>
            </a:pPr>
            <a:r>
              <a:rPr/>
              <a:t>This means approximately 55.48% of the variance in ranks of one variable can be explained by the ranks of the other variable. This is similar to how R² works in linear regression, but specifically for ranked data.</a:t>
            </a:r>
          </a:p>
          <a:p>
            <a:pPr lvl="0" indent="0">
              <a:buNone/>
            </a:pPr>
            <a:r>
              <a:rPr>
                <a:latin typeface="Courier"/>
              </a:rPr>
              <a:t>
    Spearman's rank correlation rho
data:  lion_data$proportion_black and lion_data$age_years
S = 1392.1, p-value = 1.013e-06
alternative hypothesis: true rho is not equal to 0
sample estimates:
      rho 
0.7448561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Correlation: Important Considerations</a:t>
            </a:r>
          </a:p>
          <a:p>
            <a:pPr lvl="0"/>
            <a:r>
              <a:rPr b="1"/>
              <a:t>The correlation coefficient depends on the range</a:t>
            </a:r>
          </a:p>
          <a:p>
            <a:pPr lvl="1"/>
            <a:r>
              <a:rPr/>
              <a:t>Restricting range of values can reduce the correlation coefficient</a:t>
            </a:r>
          </a:p>
          <a:p>
            <a:pPr lvl="1"/>
            <a:r>
              <a:rPr/>
              <a:t>Comparing correlations between studies requires similar ranges of values</a:t>
            </a:r>
          </a:p>
          <a:p>
            <a:pPr lvl="0"/>
            <a:r>
              <a:rPr b="1"/>
              <a:t>Measurement error affects correlation</a:t>
            </a:r>
          </a:p>
          <a:p>
            <a:pPr lvl="1"/>
            <a:r>
              <a:rPr/>
              <a:t>Measurement error in X or Y tends to weaken observed correlation</a:t>
            </a:r>
          </a:p>
          <a:p>
            <a:pPr lvl="1"/>
            <a:r>
              <a:rPr/>
              <a:t>This bias is called </a:t>
            </a:r>
            <a:r>
              <a:rPr b="1"/>
              <a:t>attenuation</a:t>
            </a:r>
          </a:p>
          <a:p>
            <a:pPr lvl="1"/>
            <a:r>
              <a:rPr/>
              <a:t>True correlation typically stronger than observed correlation</a:t>
            </a:r>
          </a:p>
          <a:p>
            <a:pPr lvl="0"/>
            <a:r>
              <a:rPr b="1"/>
              <a:t>Correlation vs. Causation</a:t>
            </a:r>
          </a:p>
          <a:p>
            <a:pPr lvl="1"/>
            <a:r>
              <a:rPr/>
              <a:t>Correlation does not imply causation</a:t>
            </a:r>
          </a:p>
          <a:p>
            <a:pPr lvl="1"/>
            <a:r>
              <a:rPr/>
              <a:t>Three possible explanations for correlation:</a:t>
            </a:r>
          </a:p>
          <a:p>
            <a:pPr lvl="2" indent="-342900" marL="1028700">
              <a:buAutoNum type="arabicPeriod"/>
            </a:pPr>
            <a:r>
              <a:rPr/>
              <a:t>X causes Y</a:t>
            </a:r>
          </a:p>
          <a:p>
            <a:pPr lvl="2" indent="-342900" marL="1028700">
              <a:buAutoNum type="arabicPeriod"/>
            </a:pPr>
            <a:r>
              <a:rPr/>
              <a:t>Y causes X</a:t>
            </a:r>
          </a:p>
          <a:p>
            <a:pPr lvl="2" indent="-342900" marL="1028700">
              <a:buAutoNum type="arabicPeriod"/>
            </a:pPr>
            <a:r>
              <a:rPr/>
              <a:t>Z (a third variable) causes both X and Y</a:t>
            </a:r>
          </a:p>
          <a:p>
            <a:pPr lvl="0"/>
            <a:r>
              <a:rPr b="1"/>
              <a:t>Correlation significance test</a:t>
            </a:r>
          </a:p>
          <a:p>
            <a:pPr lvl="1"/>
            <a:r>
              <a:rPr/>
              <a:t>H₀: ρ = 0 (no correlation in population)</a:t>
            </a:r>
          </a:p>
          <a:p>
            <a:pPr lvl="1"/>
            <a:r>
              <a:rPr/>
              <a:t>H₁: ρ ≠ 0 (correlation exists in population)</a:t>
            </a:r>
          </a:p>
          <a:p>
            <a:pPr lvl="1"/>
            <a:r>
              <a:rPr b="1"/>
              <a:t>Test statistic: t = r / SE(r) with df = n-2</a:t>
            </a:r>
          </a:p>
        </p:txBody>
      </p:sp>
      <p:pic>
        <p:nvPicPr>
          <p:cNvPr descr="09_lecture_powerpoint_files/figure-pptx/overview-plot-1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images/clipboard-33602449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80200" y="660400"/>
            <a:ext cx="1663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is: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09_lecture_powerpoint_files/figure-pptx/overview-plot-1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Example 17.1 in the textbook the regression line for the lion data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10.65</m:t>
                    </m:r>
                    <m:r>
                      <m:rPr>
                        <m:sty m:val="p"/>
                      </m:rPr>
                      <m:t>×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b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means:</a:t>
                </a:r>
              </a:p>
              <a:p>
                <a:pPr lvl="0"/>
                <a:r>
                  <a:rPr/>
                  <a:t>When a lion has no black on its nose (proportion = 0), its predicted age is 0.88 years</a:t>
                </a:r>
              </a:p>
              <a:p>
                <a:pPr lvl="0"/>
                <a:r>
                  <a:rPr/>
                  <a:t>For each 0.1 increase in the proportion of black, age increases by 1.065 years</a:t>
                </a:r>
              </a:p>
              <a:p>
                <a:pPr lvl="0"/>
                <a:r>
                  <a:rPr/>
                  <a:t>The slope (10.65) indicates that lions with more black on their noses tend to be older</a:t>
                </a:r>
              </a:p>
            </p:txBody>
          </p:sp>
        </mc:Choice>
      </mc:AlternateContent>
      <p:pic>
        <p:nvPicPr>
          <p:cNvPr descr="09_lecture_powerpoint_files/figure-pptx/overview-plot-1q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/>
            <a:r>
              <a:rPr/>
              <a:t>male lions develop more black pigmentation on their noses as they age.</a:t>
            </a:r>
          </a:p>
          <a:p>
            <a:pPr lvl="0"/>
            <a:r>
              <a:rPr/>
              <a:t>can be used to estimate the age of lions in the field.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age_years ~ proportion_black, data = lion_data)
Residuals:
    Min      1Q  Median      3Q     Max 
-2.5449 -1.1117 -0.5285  0.9635  4.3421 
Coefficients:
                 Estimate Std. Error t value Pr(&gt;|t|)    
(Intercept)        0.8790     0.5688   1.545    0.133    
proportion_black  10.6471     1.5095   7.053 7.68e-08 ***
---
Signif. codes:  0 '***' 0.001 '**' 0.01 '*' 0.05 '.' 0.1 ' ' 1
Residual standard error: 1.669 on 30 degrees of freedom
Multiple R-squared:  0.6238,    Adjusted R-squared:  0.6113 
F-statistic: 49.75 on 1 and 30 DF,  p-value: 7.677e-08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/>
                  <a:t>The calculation for slope (m) is:</a:t>
                </a:r>
                <a:br/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Given:</a:t>
                </a:r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0.3222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1.2221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13.0123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b = 13.0123 / 1.2221 = 10.647</a:t>
                </a:r>
              </a:p>
              <a:p>
                <a:pPr lvl="0" indent="0" marL="0">
                  <a:buNone/>
                </a:pPr>
                <a:r>
                  <a:rPr/>
                  <a:t>Intercept (b):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10.647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0.3222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0.879</m:t>
                    </m:r>
                  </m:oMath>
                </a14:m>
              </a:p>
            </p:txBody>
          </p:sp>
        </mc:Choice>
      </mc:AlternateContent>
      <p:pic>
        <p:nvPicPr>
          <p:cNvPr descr="09_lecture_powerpoint_files/figure-pptx/overview-plot-1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Making predictions:</a:t>
                </a:r>
              </a:p>
              <a:p>
                <a:pPr lvl="0" indent="0" marL="0">
                  <a:buNone/>
                </a:pPr>
                <a:r>
                  <a:rPr/>
                  <a:t>To predict the age of a lion with 0.50 proportion of black on its nose: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0.88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10.65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0.50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6.2</m:t>
                      </m:r>
                      <m:r>
                        <m:rPr>
                          <m:nor/>
                          <m:sty m:val="p"/>
                        </m:rPr>
                        <m:t> years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Confidence intervals vs. Prediction intervals:</a:t>
                </a:r>
              </a:p>
              <a:p>
                <a:pPr lvl="0"/>
                <a:r>
                  <a:rPr b="1"/>
                  <a:t>Confidence interval</a:t>
                </a:r>
                <a:r>
                  <a:rPr/>
                  <a:t>: Range for the mean age of all lions with 0.50 black</a:t>
                </a:r>
              </a:p>
              <a:p>
                <a:pPr lvl="0"/>
                <a:r>
                  <a:rPr b="1"/>
                  <a:t>Prediction interval</a:t>
                </a:r>
                <a:r>
                  <a:rPr/>
                  <a:t>: Range for an individual lion with 0.50 black</a:t>
                </a:r>
              </a:p>
              <a:p>
                <a:pPr lvl="0" indent="0" marL="0">
                  <a:buNone/>
                </a:pPr>
                <a:r>
                  <a:rPr/>
                  <a:t>Both intervals are narrowest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and widen as X moves away from the mean.</a:t>
                </a:r>
              </a:p>
            </p:txBody>
          </p:sp>
        </mc:Choice>
      </mc:AlternateContent>
      <p:pic>
        <p:nvPicPr>
          <p:cNvPr descr="09_lecture_powerpoint_files/figure-pptx/overview-plot-1b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Prairie Home Companion</a:t>
            </a:r>
          </a:p>
          <a:p>
            <a:pPr lvl="0"/>
            <a:r>
              <a:rPr/>
              <a:t>Does biodiversity affect ecosystem stability?</a:t>
            </a:r>
          </a:p>
          <a:p>
            <a:pPr lvl="0"/>
            <a:r>
              <a:rPr/>
              <a:t>Tilman et al. (2006) investigated using experimental plots varying plant species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log_stability ~ species_number, data = prairie_data)
Residuals:
     Min       1Q   Median       3Q      Max 
-0.82774 -0.25344 -0.00426  0.27498  0.75240 
Coefficients:
               Estimate Std. Error t value Pr(&gt;|t|)    
(Intercept)    1.252629   0.041023  30.535  &lt; 2e-16 ***
species_number 0.025984   0.004926   5.275 4.28e-07 ***
---
Signif. codes:  0 '***' 0.001 '**' 0.01 '*' 0.05 '.' 0.1 ' ' 1
Residual standard error: 0.3433 on 159 degrees of freedom
Multiple R-squared:  0.149, Adjusted R-squared:  0.1436 
F-statistic: 27.83 on 1 and 159 DF,  p-value: 4.276e-07</a:t>
            </a:r>
          </a:p>
          <a:p>
            <a:pPr lvl="0" indent="0">
              <a:buNone/>
            </a:pPr>
            <a:r>
              <a:rPr>
                <a:latin typeface="Courier"/>
              </a:rPr>
              <a:t>Analysis of Variance Table
Response: log_stability
                Df  Sum Sq Mean Sq F value    Pr(&gt;F)    
species_number   1  3.2792  3.2792  27.829 4.276e-07 ***
Residuals      159 18.7358  0.1178                      
---
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hypothesis test asks whether the slope equals zero:</a:t>
            </a:r>
          </a:p>
          <a:p>
            <a:pPr lvl="0"/>
            <a:r>
              <a:rPr/>
              <a:t>H₀: β = 0 (species number does not affect stability)</a:t>
            </a:r>
          </a:p>
          <a:p>
            <a:pPr lvl="0"/>
            <a:r>
              <a:rPr/>
              <a:t>H₁: β ≠ 0 (species number does affect stability)</a:t>
            </a:r>
          </a:p>
          <a:p>
            <a:pPr lvl="0" indent="0" marL="0">
              <a:buNone/>
            </a:pPr>
            <a:r>
              <a:rPr/>
              <a:t>t = estimate/SE</a:t>
            </a:r>
          </a:p>
          <a:p>
            <a:pPr lvl="0" indent="0" marL="0">
              <a:buNone/>
            </a:pPr>
            <a:r>
              <a:rPr b="1"/>
              <a:t>Interpretation:</a:t>
            </a:r>
          </a:p>
          <a:p>
            <a:pPr lvl="0" indent="0" marL="0">
              <a:buNone/>
            </a:pPr>
            <a:r>
              <a:rPr/>
              <a:t>The slope estimate is 0.033, indicating that log stability increases by 0.033 units for each additional plant species in the plot.</a:t>
            </a:r>
          </a:p>
          <a:p>
            <a:pPr lvl="0" indent="0" marL="0">
              <a:buNone/>
            </a:pPr>
            <a:r>
              <a:rPr/>
              <a:t>The p-value is very small (2.73e-10), providing strong evidence to reject the null hypothesis that species number has no effect on ecosystem stability.</a:t>
            </a:r>
          </a:p>
          <a:p>
            <a:pPr lvl="0" indent="0" marL="0">
              <a:buNone/>
            </a:pPr>
            <a:r>
              <a:rPr/>
              <a:t>R² = 0.222, meaning that approximately 22.2% of the variation in log stability is explained by the number of plant species.</a:t>
            </a:r>
          </a:p>
          <a:p>
            <a:pPr lvl="0" indent="0" marL="0">
              <a:buNone/>
            </a:pPr>
            <a:r>
              <a:rPr/>
              <a:t>This supports the biodiversity-stability hypothesis: more diverse plant communities have more stable biomass production over time.</a:t>
            </a:r>
          </a:p>
        </p:txBody>
      </p:sp>
      <p:pic>
        <p:nvPicPr>
          <p:cNvPr descr="09_lecture_powerpoint_files/figure-pptx/overview-plot-1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normally distributed for each x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has the same variance</a:t>
                </a:r>
              </a:p>
              <a:p>
                <a:pPr lvl="0"/>
                <a:r>
                  <a:rPr/>
                  <a:t>has a mean of 0 at each xi</a:t>
                </a:r>
              </a:p>
            </p:txBody>
          </p:sp>
        </mc:Choice>
      </mc:AlternateContent>
      <p:pic>
        <p:nvPicPr>
          <p:cNvPr descr="images/clipboard-20920342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- estimated as the residuals: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ordinary lease square estimates a and b or slope and intercept to minimize the sum of the residuals squared as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rPr>
                            <m:sty m:val="p"/>
                          </m:rPr>
                          <m:t>=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</p:txBody>
          </p:sp>
        </mc:Choice>
      </mc:AlternateContent>
      <p:pic>
        <p:nvPicPr>
          <p:cNvPr descr="images/clipboard-14110524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  <a:p>
            <a:pPr lvl="0" indent="0" marL="0">
              <a:buNone/>
            </a:pPr>
            <a:r>
              <a:rPr/>
              <a:t>Linearity - how does this plot work</a:t>
            </a:r>
          </a:p>
        </p:txBody>
      </p:sp>
      <p:pic>
        <p:nvPicPr>
          <p:cNvPr descr="09_lecture_powerpoint_files/figure-pptx/overview-plot-1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pic>
        <p:nvPicPr>
          <p:cNvPr descr="09_lecture_powerpoint_files/figure-pptx/overview-plot-1f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residuals(lion_model)
W = 0.93879, p-value = 0.0692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If assumptions are violated: 1. Transform the data (Section 17.6) 2. Use weighted least squares for heteroscedasticity 3. Consider non-linear models (Section 17.8)</a:t>
            </a:r>
          </a:p>
        </p:txBody>
      </p:sp>
      <p:pic>
        <p:nvPicPr>
          <p:cNvPr descr="09_lecture_powerpoint_files/figure-pptx/overview-plot-1h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Estimates of standard error and confidence intervals for slow and intercept to determine confidence bands</a:t>
            </a:r>
          </a:p>
          <a:p>
            <a:pPr lvl="0"/>
            <a:r>
              <a:rPr/>
              <a:t>the 95% confidence band will contain the true population line 95/100 under repeated sampling</a:t>
            </a:r>
          </a:p>
          <a:p>
            <a:pPr lvl="0"/>
            <a:r>
              <a:rPr/>
              <a:t>this is usually done in R</a:t>
            </a:r>
          </a:p>
        </p:txBody>
      </p:sp>
      <p:pic>
        <p:nvPicPr>
          <p:cNvPr descr="images/clipboard-9345943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74900"/>
            <a:ext cx="27813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addition to getting estimates of population parameters (β0 , β1), want to test hypotheses about them</a:t>
            </a:r>
          </a:p>
          <a:p>
            <a:pPr lvl="0"/>
            <a:r>
              <a:rPr/>
              <a:t>This is accomplished by analysis of variance</a:t>
            </a:r>
          </a:p>
          <a:p>
            <a:pPr lvl="0"/>
            <a:r>
              <a:rPr/>
              <a:t>Partition variance in Y: due to variation in X, due to other things (error)</a:t>
            </a:r>
          </a:p>
        </p:txBody>
      </p:sp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7706327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GREATER IN C than D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GREATER IN B THAN A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</p:txBody>
          </p:sp>
        </mc:Choice>
      </mc:AlternateContent>
      <p:pic>
        <p:nvPicPr>
          <p:cNvPr descr="images/clipboard-2171515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92300"/>
            <a:ext cx="27813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and degress of freedome are: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Sums of Squares depends on n</a:t>
                </a:r>
              </a:p>
              <a:p>
                <a:pPr lvl="0"/>
                <a:r>
                  <a:rPr/>
                  <a:t>We need a different estimate of variance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converted to Mean Squares</a:t>
                </a:r>
              </a:p>
              <a:p>
                <a:pPr lvl="0"/>
                <a:r>
                  <a:rPr/>
                  <a:t>Sums of Squares divided by degrees of freedom - does not depend on 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estimate population variation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estimate pop variation and variation due to X-Y relationship</a:t>
                </a:r>
              </a:p>
              <a:p>
                <a:pPr lvl="0"/>
                <a:r>
                  <a:rPr/>
                  <a:t>Mean Squares are not additive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2026-05-06T02:20:44Z</dcterms:created>
  <dcterms:modified xsi:type="dcterms:W3CDTF">2026-05-06T02:20:44Z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