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10 - 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09: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Regression T-Test Anova</a:t>
            </a:r>
          </a:p>
          <a:p>
            <a:pPr lvl="0"/>
            <a:r>
              <a:rPr/>
              <a:t>Regression Assumptions</a:t>
            </a:r>
          </a:p>
          <a:p>
            <a:pPr lvl="0"/>
            <a:r>
              <a:rPr/>
              <a:t>sum of squared allocation and subdivision from total sums of squares</a:t>
            </a:r>
          </a:p>
        </p:txBody>
      </p:sp>
      <p:pic>
        <p:nvPicPr>
          <p:cNvPr descr="10_lecture_powerpoint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Linear Regression model</a:t>
            </a:r>
          </a:p>
          <a:p>
            <a:pPr lvl="0"/>
            <a:r>
              <a:rPr/>
              <a:t>Regression parameters</a:t>
            </a:r>
          </a:p>
          <a:p>
            <a:pPr lvl="0"/>
            <a:r>
              <a:rPr/>
              <a:t>Analysis of variance</a:t>
            </a:r>
          </a:p>
          <a:p>
            <a:pPr lvl="0"/>
            <a:r>
              <a:rPr/>
              <a:t>Null hypotheses</a:t>
            </a:r>
          </a:p>
          <a:p>
            <a:pPr lvl="0"/>
            <a:r>
              <a:rPr/>
              <a:t>Explained variance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Collinearity</a:t>
            </a:r>
          </a:p>
          <a:p>
            <a:pPr lvl="0"/>
            <a:r>
              <a:rPr/>
              <a:t>Interactions</a:t>
            </a:r>
          </a:p>
          <a:p>
            <a:pPr lvl="0"/>
            <a:r>
              <a:rPr/>
              <a:t>Dummy variables</a:t>
            </a:r>
          </a:p>
          <a:p>
            <a:pPr lvl="0"/>
            <a:r>
              <a:rPr/>
              <a:t>Model selection</a:t>
            </a:r>
          </a:p>
          <a:p>
            <a:pPr lvl="0"/>
            <a:r>
              <a:rPr/>
              <a:t>Importance of predictors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more than one predictor (X) variable?</a:t>
            </a:r>
          </a:p>
          <a:p>
            <a:pPr lvl="0"/>
            <a:r>
              <a:rPr/>
              <a:t>If predictors continuous</a:t>
            </a:r>
          </a:p>
          <a:p>
            <a:pPr lvl="0"/>
            <a:r>
              <a:rPr/>
              <a:t>Mix between categorical and continuous</a:t>
            </a:r>
          </a:p>
          <a:p>
            <a:pPr lvl="0"/>
            <a:r>
              <a:rPr/>
              <a:t>Can use multiple linear regression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/>
                <a:gridCol w="927100"/>
                <a:gridCol w="927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Independent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Dependent 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Abundance of ants can be modeled as function of</a:t>
            </a:r>
          </a:p>
          <a:p>
            <a:pPr lvl="0"/>
            <a:r>
              <a:rPr/>
              <a:t>latitude</a:t>
            </a:r>
          </a:p>
          <a:p>
            <a:pPr lvl="0"/>
            <a:r>
              <a:rPr/>
              <a:t>longitude</a:t>
            </a:r>
          </a:p>
          <a:p>
            <a:pPr lvl="0"/>
            <a:r>
              <a:rPr/>
              <a:t>both</a:t>
            </a:r>
          </a:p>
          <a:p>
            <a:pPr lvl="0" indent="0" marL="0">
              <a:buNone/>
            </a:pPr>
            <a:r>
              <a:rPr/>
              <a:t>Instead of line, modeled with (hyper)plane</a:t>
            </a:r>
          </a:p>
        </p:txBody>
      </p:sp>
      <p:pic>
        <p:nvPicPr>
          <p:cNvPr descr="10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Used in similar way to simple linear regression:</a:t>
            </a:r>
          </a:p>
          <a:p>
            <a:pPr lvl="0"/>
            <a:r>
              <a:rPr/>
              <a:t>Describe nature of relationship between Y and X’s</a:t>
            </a:r>
          </a:p>
          <a:p>
            <a:pPr lvl="0"/>
            <a:r>
              <a:rPr/>
              <a:t>Determine explained / unexplained variation in Y</a:t>
            </a:r>
          </a:p>
          <a:p>
            <a:pPr lvl="0"/>
            <a:r>
              <a:rPr/>
              <a:t>Predict new Ys from X</a:t>
            </a:r>
          </a:p>
          <a:p>
            <a:pPr lvl="0"/>
            <a:r>
              <a:rPr/>
              <a:t>Find the “best” model</a:t>
            </a:r>
          </a:p>
        </p:txBody>
      </p:sp>
      <p:pic>
        <p:nvPicPr>
          <p:cNvPr descr="10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Crawley 2012: “Multiple regression models provide some of the most profound challenges faced by the analyst”:</a:t>
            </a:r>
          </a:p>
          <a:p>
            <a:pPr lvl="0"/>
            <a:r>
              <a:rPr/>
              <a:t>Overfitting</a:t>
            </a:r>
          </a:p>
          <a:p>
            <a:pPr lvl="0"/>
            <a:r>
              <a:rPr/>
              <a:t>Parameter proliferation</a:t>
            </a:r>
          </a:p>
          <a:p>
            <a:pPr lvl="0"/>
            <a:r>
              <a:rPr/>
              <a:t>Multicollinearity</a:t>
            </a:r>
          </a:p>
          <a:p>
            <a:pPr lvl="0"/>
            <a:r>
              <a:rPr/>
              <a:t>Model selection</a:t>
            </a:r>
          </a:p>
        </p:txBody>
      </p:sp>
      <p:pic>
        <p:nvPicPr>
          <p:cNvPr descr="images/clipboard-17364537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/>
                <a:r>
                  <a:rPr/>
                  <a:t>Set of i= 1 to n observations</a:t>
                </a:r>
              </a:p>
              <a:p>
                <a:pPr lvl="0"/>
                <a:r>
                  <a:rPr/>
                  <a:t>fixed X-values for p predictor variables (X1, X2…Xp)</a:t>
                </a:r>
              </a:p>
              <a:p>
                <a:pPr lvl="0"/>
                <a:r>
                  <a:rPr/>
                  <a:t>random Y-values: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y</a:t>
                </a:r>
                <a:r>
                  <a:rPr baseline="-25000"/>
                  <a:t>i</a:t>
                </a:r>
                <a:r>
                  <a:rPr/>
                  <a:t>: value of Y for i</a:t>
                </a:r>
                <a:r>
                  <a:rPr baseline="30000"/>
                  <a:t>th</a:t>
                </a:r>
                <a:r>
                  <a:rPr/>
                  <a:t> observation X</a:t>
                </a:r>
                <a:r>
                  <a:rPr baseline="-25000"/>
                  <a:t>1</a:t>
                </a:r>
                <a:r>
                  <a:rPr/>
                  <a:t> = x</a:t>
                </a:r>
                <a:r>
                  <a:rPr baseline="-25000"/>
                  <a:t>i1</a:t>
                </a:r>
                <a:r>
                  <a:rPr/>
                  <a:t>, X</a:t>
                </a:r>
                <a:r>
                  <a:rPr baseline="-25000"/>
                  <a:t>2</a:t>
                </a:r>
                <a:r>
                  <a:rPr/>
                  <a:t> = x</a:t>
                </a:r>
                <a:r>
                  <a:rPr baseline="-25000"/>
                  <a:t>i2</a:t>
                </a:r>
                <a:r>
                  <a:rPr/>
                  <a:t>,…, x</a:t>
                </a:r>
                <a:r>
                  <a:rPr baseline="-25000"/>
                  <a:t>p</a:t>
                </a:r>
                <a:r>
                  <a:rPr/>
                  <a:t> = x</a:t>
                </a:r>
                <a:r>
                  <a:rPr baseline="-25000"/>
                  <a:t>ip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0</a:t>
                </a:r>
                <a:r>
                  <a:rPr/>
                  <a:t>: population intercept, the mean value of Y when X</a:t>
                </a:r>
                <a:r>
                  <a:rPr baseline="-25000"/>
                  <a:t>1</a:t>
                </a:r>
                <a:r>
                  <a:rPr/>
                  <a:t>= 0, X</a:t>
                </a:r>
                <a:r>
                  <a:rPr baseline="-25000"/>
                  <a:t>2</a:t>
                </a:r>
                <a:r>
                  <a:rPr/>
                  <a:t> = 0,…, X</a:t>
                </a:r>
                <a:r>
                  <a:rPr baseline="-25000"/>
                  <a:t>p</a:t>
                </a:r>
                <a:r>
                  <a:rPr/>
                  <a:t> = 0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Multiple linear regression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1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2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2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p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p</a:t>
                </a:r>
                <a:r>
                  <a:rPr/>
                  <a:t> holding other X-vars constant</a:t>
                </a:r>
              </a:p>
              <a:p>
                <a:pPr lvl="0" indent="0" marL="0">
                  <a:buNone/>
                </a:pPr>
                <a:r>
                  <a:rPr/>
                  <a:t>What is partial - the relationship between a predictor variable and the response variable </a:t>
                </a:r>
                <a:r>
                  <a:rPr b="1"/>
                  <a:t>while holding all other predictor variables constant</a:t>
                </a:r>
                <a:r>
                  <a:rPr/>
                  <a:t>. It tells you the isolated effect of one variable, controlling for the influence of others.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10: Partial regression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model: ant_spp ~ elevation + latitude</a:t>
            </a:r>
          </a:p>
          <a:p>
            <a:pPr lvl="0"/>
            <a:r>
              <a:rPr/>
              <a:t>The partial slope for elevation tells you how ant species richness changes with elevation when latitude is held constant</a:t>
            </a:r>
          </a:p>
          <a:p>
            <a:pPr lvl="1"/>
            <a:r>
              <a:rPr/>
              <a:t>1-m increase in elevation - ant spp decrease by 0.012 spp, holding latitude constant</a:t>
            </a:r>
          </a:p>
          <a:p>
            <a:pPr lvl="1"/>
            <a:r>
              <a:rPr/>
              <a:t>Or 100-meter increase in elevation, lose 1.2 spp</a:t>
            </a:r>
          </a:p>
          <a:p>
            <a:pPr lvl="0"/>
            <a:r>
              <a:rPr/>
              <a:t>The partial slope for latitude tells you how ant species richness changes with latitude when elevation is held constant</a:t>
            </a:r>
          </a:p>
          <a:p>
            <a:pPr lvl="1"/>
            <a:r>
              <a:rPr/>
              <a:t>1-degree increase in latitude, ant spp decrease by 2 species, holding elevation constant</a:t>
            </a:r>
          </a:p>
          <a:p>
            <a:pPr lvl="1"/>
            <a:r>
              <a:rPr/>
              <a:t>Moving north = fewer ant spp, even when comparing sites at same elevation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ε</a:t>
                </a:r>
                <a:r>
                  <a:rPr baseline="-25000"/>
                  <a:t>i</a:t>
                </a:r>
                <a:r>
                  <a:rPr/>
                  <a:t>: unexplained error - difference between y</a:t>
                </a:r>
                <a:r>
                  <a:rPr baseline="-25000"/>
                  <a:t>i</a:t>
                </a:r>
                <a:r>
                  <a:rPr/>
                  <a:t> and value predicted by model (ŷ</a:t>
                </a:r>
                <a:r>
                  <a:rPr baseline="-25000"/>
                  <a:t>i</a:t>
                </a:r>
                <a:r>
                  <a:rPr/>
                  <a:t>)</a:t>
                </a:r>
              </a:p>
              <a:p>
                <a:pPr lvl="0"/>
                <a:r>
                  <a:rPr/>
                  <a:t>ant_spp = β</a:t>
                </a:r>
                <a:r>
                  <a:rPr baseline="-25000"/>
                  <a:t>0</a:t>
                </a:r>
                <a:r>
                  <a:rPr/>
                  <a:t> + β</a:t>
                </a:r>
                <a:r>
                  <a:rPr baseline="-25000"/>
                  <a:t>1</a:t>
                </a:r>
                <a:r>
                  <a:rPr/>
                  <a:t>(lat) + β</a:t>
                </a:r>
                <a:r>
                  <a:rPr baseline="-25000"/>
                  <a:t>2</a:t>
                </a:r>
                <a:r>
                  <a:rPr/>
                  <a:t>(elevation) + ε</a:t>
                </a:r>
                <a:r>
                  <a:rPr baseline="-25000"/>
                  <a:t>i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Estimate multiple regression parameters (intercept, partial slopes) using OLS to fit the regression line</a:t>
                </a:r>
              </a:p>
              <a:p>
                <a:pPr lvl="0"/>
                <a:r>
                  <a:rPr/>
                  <a:t>OLS minimize ∑(y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  <a:r>
                  <a:rPr/>
                  <a:t>)</a:t>
                </a:r>
                <a:r>
                  <a:rPr baseline="30000"/>
                  <a:t>2</a:t>
                </a:r>
                <a:r>
                  <a:rPr/>
                  <a:t>, the SS (vertical distance) between observed y</a:t>
                </a:r>
                <a:r>
                  <a:rPr baseline="-25000"/>
                  <a:t>i</a:t>
                </a:r>
                <a:r>
                  <a:rPr/>
                  <a:t> and predicted ŷ</a:t>
                </a:r>
                <a:r>
                  <a:rPr baseline="-25000"/>
                  <a:t>i</a:t>
                </a:r>
                <a:r>
                  <a:rPr/>
                  <a:t> for each x</a:t>
                </a:r>
                <a:r>
                  <a:rPr baseline="-25000"/>
                  <a:t>ij</a:t>
                </a:r>
              </a:p>
              <a:p>
                <a:pPr lvl="0"/>
                <a:r>
                  <a:rPr/>
                  <a:t>ε estimated as residuals: ε</a:t>
                </a:r>
                <a:r>
                  <a:rPr baseline="-25000"/>
                  <a:t>i</a:t>
                </a:r>
                <a:r>
                  <a:rPr/>
                  <a:t> = 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Calculation solves set of simultaneous normal equations with matrix algebra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equation can be used for prediction by subbing new values for predictor (X) variables</a:t>
            </a:r>
          </a:p>
          <a:p>
            <a:pPr lvl="0"/>
            <a:r>
              <a:rPr/>
              <a:t>Confidence intervals calculated for parameters</a:t>
            </a:r>
          </a:p>
          <a:p>
            <a:pPr lvl="0"/>
            <a:r>
              <a:rPr/>
              <a:t>Confidence and prediction intervals depend on number of observations and number of predictors</a:t>
            </a:r>
          </a:p>
          <a:p>
            <a:pPr lvl="1"/>
            <a:r>
              <a:rPr/>
              <a:t>More observations decrease interval width</a:t>
            </a:r>
          </a:p>
          <a:p>
            <a:pPr lvl="1"/>
            <a:r>
              <a:rPr/>
              <a:t>More predictors increase interval width</a:t>
            </a:r>
          </a:p>
          <a:p>
            <a:pPr lvl="0"/>
            <a:r>
              <a:rPr/>
              <a:t>Prediction should be restricted to within range of X variables</a:t>
            </a:r>
          </a:p>
        </p:txBody>
      </p:sp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 of variance or sums of squares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Variance - SS</a:t></a:r><a:r><a:rPr baseline="-25000" /><a:t>total</a:t></a:r><a:r><a:rPr /><a:t> partitioned into SS</a:t></a:r><a:r><a:rPr baseline="-25000" /><a:t>regression</a:t></a:r><a:r><a:rPr /><a:t> and SS</a:t></a:r><a:r><a:rPr baseline="-25000" /><a:t>residual</a:t></a:r></a:p><a:p><a:pPr lvl="0" /><a:r><a:rPr /><a:t>SS</a:t></a:r><a:r><a:rPr baseline="-25000" /><a:t>regression</a:t></a:r><a:r><a:rPr /><a:t> is variance in Y explained by model</a:t></a:r></a:p><a:p><a:pPr lvl="0" /><a:r><a:rPr /><a:t>SS</a:t></a:r><a:r><a:rPr baseline="-25000" /><a:t>residual</a:t></a:r><a:r><a:rPr /><a:t> is variance not explained by model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041400" /><a:gridCol w="1041400" /><a:gridCol w="1041400" /><a:gridCol w="1041400" /><a:gridCol w="10414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a:tc><a:txBody><a:bodyPr /><a:lstStyle /><a:p><a:pPr lvl="0" indent="0" marL="0" algn="l"><a:buNone /></a:pPr><a:r><a:rPr /><a:t>Interpretation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a:tc><a:txBody><a:bodyPr /><a:lstStyle /><a:p><a:pPr lvl="0" indent="0" marL="0" algn="l"><a:buNone /></a:pPr><a:r><a:rPr /><a:t>Difference between predicted observation and mean</a:t></a:r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a:tc><a:txBody><a:bodyPr /><a:lstStyle /><a:p><a:pPr lvl="0" indent="0" marL="0" algn="l"><a:buNone /></a:pPr><a:r><a:rPr /><a:t>Difference between each observation and predicted</a:t></a:r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a:tc><a:txBody><a:bodyPr /><a:lstStyle /><a:p><a:pPr lvl="0" indent="0" marL="0" algn="l"><a:buNone /></a:pPr><a:r><a:rPr /><a:t>Difference between each observation and mean</a:t></a:r></a:p></a:txBody></a:tc></a:tr></a:tbl></a:graphicData></a:graphic></p:graphicFrame></p:spTree></p:cSld></p:sld>
</file>

<file path=ppt/slides/slide1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SS converted to non-additive MS=(SS/df)</a:t></a:r></a:p><a:p><a:pPr lvl="0" /><a:r><a:rPr /><a:t>MS</a:t></a:r><a:r><a:rPr baseline="-25000" /><a:t>residual</a:t></a:r><a:r><a:rPr /><a:t>: estimate population variance</a:t></a:r></a:p><a:p><a:pPr lvl="0" /><a:r><a:rPr /><a:t>MS</a:t></a:r><a:r><a:rPr baseline="-25000" /><a:t>regression</a:t></a:r><a:r><a:rPr /><a:t>: estimate population variance + variation due to strength of X-Y relationships</a:t></a:r></a:p><a:p><a:pPr lvl="0" /><a:r><a:rPr /><a:t>MS is an estimate of variance that doesn’t increase with sample size the way Sum of Squares (SS) does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308100" /><a:gridCol w="1308100" /><a:gridCol w="1308100" /><a:gridCol w="13081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/a:tr></a:tbl></a:graphicData></a:graphic></p:graphicFrame></p:spTree></p:cSld>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Null Hypotheses usually tested in MLR:</a:t>
            </a:r>
          </a:p>
          <a:p>
            <a:pPr lvl="0"/>
            <a:r>
              <a:rPr/>
              <a:t>“Basic” H</a:t>
            </a:r>
            <a:r>
              <a:rPr baseline="-25000"/>
              <a:t>o</a:t>
            </a:r>
            <a:r>
              <a:rPr/>
              <a:t>: all partial regression slopes equal 0; β</a:t>
            </a:r>
            <a:r>
              <a:rPr baseline="-25000"/>
              <a:t>1</a:t>
            </a:r>
            <a:r>
              <a:rPr/>
              <a:t> = β</a:t>
            </a:r>
            <a:r>
              <a:rPr baseline="-25000"/>
              <a:t>2</a:t>
            </a:r>
            <a:r>
              <a:rPr/>
              <a:t> = … = β</a:t>
            </a:r>
            <a:r>
              <a:rPr baseline="-25000"/>
              <a:t>p</a:t>
            </a:r>
            <a:r>
              <a:rPr/>
              <a:t> = 0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true, MS</a:t>
            </a:r>
            <a:r>
              <a:rPr baseline="-25000"/>
              <a:t>regression</a:t>
            </a:r>
            <a:r>
              <a:rPr/>
              <a:t> and MS</a:t>
            </a:r>
            <a:r>
              <a:rPr baseline="-25000"/>
              <a:t>residual</a:t>
            </a:r>
            <a:r>
              <a:rPr/>
              <a:t> estimate variance and their ratio (F-ratio) = 1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false (at least one β ≠ 0) MS</a:t>
            </a:r>
            <a:r>
              <a:rPr baseline="-25000"/>
              <a:t>regression</a:t>
            </a:r>
            <a:r>
              <a:rPr/>
              <a:t> estimates variance + partial regression slope and their ratio (F-ratio) will be &gt; 1 - F-ratio compared to F-distribution for p-value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Also: is any specific β = 0 (explanatory role)?</a:t>
            </a:r>
          </a:p>
          <a:p>
            <a:pPr lvl="0"/>
            <a:r>
              <a:rPr/>
              <a:t>E.g., does LAT have effect on Ant species?</a:t>
            </a:r>
          </a:p>
          <a:p>
            <a:pPr lvl="0"/>
            <a:r>
              <a:rPr/>
              <a:t>These H’s tested through model comparison</a:t>
            </a:r>
          </a:p>
          <a:p>
            <a:pPr lvl="0"/>
            <a:r>
              <a:rPr/>
              <a:t>Model 1 - model with 2 predictors X</a:t>
            </a:r>
            <a:r>
              <a:rPr baseline="-25000"/>
              <a:t>1</a:t>
            </a:r>
            <a:r>
              <a:rPr/>
              <a:t>, X</a:t>
            </a:r>
            <a:r>
              <a:rPr baseline="-25000"/>
              <a:t>2</a:t>
            </a:r>
            <a:r>
              <a:rPr/>
              <a:t>:</a:t>
            </a:r>
          </a:p>
          <a:p>
            <a:pPr lvl="1"/>
            <a:r>
              <a:rPr/>
              <a:t>yi=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+β</a:t>
            </a:r>
            <a:r>
              <a:rPr baseline="-25000"/>
              <a:t>2</a:t>
            </a:r>
            <a:r>
              <a:rPr/>
              <a:t>x</a:t>
            </a:r>
            <a:r>
              <a:rPr baseline="-25000"/>
              <a:t>i2</a:t>
            </a:r>
            <a:r>
              <a:rPr/>
              <a:t>+ ε</a:t>
            </a:r>
            <a:r>
              <a:rPr baseline="-25000"/>
              <a:t>i</a:t>
            </a:r>
          </a:p>
          <a:p>
            <a:pPr lvl="0"/>
            <a:r>
              <a:rPr/>
              <a:t>Model 2 - To test H</a:t>
            </a:r>
            <a:r>
              <a:rPr baseline="-25000"/>
              <a:t>o</a:t>
            </a:r>
            <a:r>
              <a:rPr/>
              <a:t> that β</a:t>
            </a:r>
            <a:r>
              <a:rPr baseline="-25000"/>
              <a:t>2</a:t>
            </a:r>
            <a:r>
              <a:rPr/>
              <a:t> = 0 compare fit of </a:t>
            </a:r>
            <a:r>
              <a:rPr b="1"/>
              <a:t>model 1</a:t>
            </a:r>
            <a:r>
              <a:rPr/>
              <a:t> to </a:t>
            </a:r>
            <a:r>
              <a:rPr b="1"/>
              <a:t>model 2</a:t>
            </a:r>
            <a:r>
              <a:rPr/>
              <a:t> with 1 predictor:</a:t>
            </a:r>
          </a:p>
          <a:p>
            <a:pPr lvl="1"/>
            <a:r>
              <a:rPr/>
              <a:t>y</a:t>
            </a:r>
            <a:r>
              <a:rPr baseline="-25000"/>
              <a:t>i</a:t>
            </a:r>
            <a:r>
              <a:rPr/>
              <a:t>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 ε</a:t>
            </a:r>
            <a:r>
              <a:rPr baseline="-25000"/>
              <a:t>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model</a:t>
                </a:r>
                <a:r>
                  <a:rPr baseline="-25000"/>
                  <a:t>1</a:t>
                </a:r>
                <a:r>
                  <a:rPr/>
                  <a:t>=model</a:t>
                </a:r>
                <a:r>
                  <a:rPr baseline="-25000"/>
                  <a:t>2</a:t>
                </a:r>
                <a:r>
                  <a:rPr/>
                  <a:t>, cannot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</a:t>
                </a:r>
                <a:r>
                  <a:rPr baseline="-25000"/>
                  <a:t>2</a:t>
                </a:r>
                <a:r>
                  <a:rPr/>
                  <a:t> did not explain any additional variance</a:t>
                </a:r>
              </a:p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mod1 &gt; mod2, evidence to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X2 explains more variance</a:t>
                </a:r>
              </a:p>
              <a:p>
                <a:pPr lvl="1"/>
                <a:r>
                  <a:rPr/>
                  <a:t>evidence to reject H0: β</a:t>
                </a:r>
                <a:r>
                  <a:rPr baseline="-25000"/>
                  <a:t>2</a:t>
                </a:r>
                <a:r>
                  <a:rPr/>
                  <a:t> = 2</a:t>
                </a:r>
              </a:p>
              <a:p>
                <a:pPr lvl="0"/>
                <a:r>
                  <a:rPr/>
                  <a:t>SS for β</a:t>
                </a:r>
                <a:r>
                  <a:rPr baseline="-25000"/>
                  <a:t>1</a:t>
                </a:r>
                <a:r>
                  <a:rPr/>
                  <a:t> is SS</a:t>
                </a:r>
                <a:r>
                  <a:rPr baseline="-25000"/>
                  <a:t>extra</a:t>
                </a:r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 = Full SS</a:t>
                </a:r>
                <a:r>
                  <a:rPr baseline="-25000"/>
                  <a:t>regression</a:t>
                </a:r>
                <a:r>
                  <a:rPr/>
                  <a:t> - Reduced SS</a:t>
                </a:r>
                <a:r>
                  <a:rPr baseline="-25000"/>
                  <a:t>regression</a:t>
                </a:r>
              </a:p>
              <a:p>
                <a:pPr lvl="1"/>
                <a:r>
                  <a:rPr/>
                  <a:t>This quantifies how much additional variance X</a:t>
                </a:r>
                <a:r>
                  <a:rPr baseline="-25000"/>
                  <a:t>2</a:t>
                </a:r>
                <a:r>
                  <a:rPr/>
                  <a:t> explains</a:t>
                </a:r>
              </a:p>
              <a:p>
                <a:pPr lvl="0"/>
                <a:r>
                  <a:rPr/>
                  <a:t>Use partial F-test to test Ho β</a:t>
                </a:r>
                <a:r>
                  <a:rPr baseline="-25000"/>
                  <a:t>1</a:t>
                </a:r>
                <a:r>
                  <a:rPr/>
                  <a:t> = 0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E</m:t>
                              </m:r>
                              <m:r>
                                <m:t>x</m:t>
                              </m:r>
                              <m:r>
                                <m:t>t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m:t>F</m:t>
                          </m:r>
                          <m:r>
                            <m:t>U</m:t>
                          </m:r>
                          <m:r>
                            <m:t>L</m:t>
                          </m:r>
                          <m:r>
                            <m:t>L</m:t>
                          </m:r>
                          <m:r>
                            <m:t> </m:t>
                          </m:r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Can also use t-test (R provides this value)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Explained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Explained variance (r</a:t>
                </a:r>
                <a:r>
                  <a:rPr baseline="30000"/>
                  <a:t>2</a:t>
                </a:r>
                <a:r>
                  <a:rPr/>
                  <a:t>) is calculated the same way as for simple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g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o</m:t>
                              </m:r>
                              <m: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can not be used to directly compare models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will always increase as predictors added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with different transformation will differ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Assume fixed Xs; unrealistic in most biological settings</a:t>
            </a:r>
          </a:p>
          <a:p>
            <a:pPr lvl="0"/>
            <a:r>
              <a:rPr/>
              <a:t>No major (influential) outliers</a:t>
            </a:r>
          </a:p>
          <a:p>
            <a:pPr lvl="0"/>
            <a:r>
              <a:rPr/>
              <a:t>Check leverage, influence- Cook’s Di</a:t>
            </a:r>
          </a:p>
        </p:txBody>
      </p:sp>
      <p:pic>
        <p:nvPicPr>
          <p:cNvPr descr="10_lecture_powerpoin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Normality, equal variance, independence</a:t>
            </a:r>
          </a:p>
          <a:p>
            <a:pPr lvl="0"/>
            <a:r>
              <a:rPr/>
              <a:t>Residual QQ-plots, residuals vs. predicted values plot</a:t>
            </a:r>
          </a:p>
          <a:p>
            <a:pPr lvl="0"/>
            <a:r>
              <a:rPr/>
              <a:t>Distribution/variance often corrected by transforming Y</a:t>
            </a:r>
          </a:p>
        </p:txBody>
      </p:sp>
      <p:pic>
        <p:nvPicPr>
          <p:cNvPr descr="10_lecture_powerpoint_files/figure-pptx/qq_and_resi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More observations than predictor variables</a:t>
            </a:r>
          </a:p>
          <a:p>
            <a:pPr lvl="1"/>
            <a:r>
              <a:rPr/>
              <a:t>Ideally </a:t>
            </a:r>
            <a:r>
              <a:rPr b="1"/>
              <a:t>at least 10x observations than predictors</a:t>
            </a:r>
            <a:r>
              <a:rPr/>
              <a:t> to avoid “overfitting” </a:t>
            </a:r>
            <a:r>
              <a:rPr b="1"/>
              <a:t>10:1</a:t>
            </a:r>
          </a:p>
          <a:p>
            <a:pPr lvl="2"/>
            <a:r>
              <a:rPr/>
              <a:t>2 predictors = 20 observations!!!</a:t>
            </a:r>
          </a:p>
          <a:p>
            <a:pPr lvl="0"/>
            <a:r>
              <a:rPr b="1"/>
              <a:t>No colinearity</a:t>
            </a:r>
          </a:p>
          <a:p>
            <a:pPr lvl="1"/>
            <a:r>
              <a:rPr b="1"/>
              <a:t>Need Uncorrelated predictor variables (assessed using scatterplot matrix; VIFs)</a:t>
            </a:r>
          </a:p>
          <a:p>
            <a:pPr lvl="0"/>
            <a:r>
              <a:rPr b="1"/>
              <a:t>Each X has linear relationship with Y after accounting for other predictors</a:t>
            </a:r>
          </a:p>
          <a:p>
            <a:pPr lvl="1"/>
            <a:r>
              <a:rPr b="1"/>
              <a:t>Added Variable (AV) plots</a:t>
            </a:r>
            <a:r>
              <a:rPr/>
              <a:t> (also called partial regression plots)</a:t>
            </a:r>
          </a:p>
          <a:p>
            <a:pPr lvl="2"/>
            <a:r>
              <a:rPr/>
              <a:t>These show the relationship between Y and X₁ after removing the linear effects of all other predictors</a:t>
            </a:r>
          </a:p>
          <a:p>
            <a:pPr lvl="2"/>
            <a:r>
              <a:rPr/>
              <a:t>Create AV plots for all predictors - </a:t>
            </a:r>
            <a:r>
              <a:rPr>
                <a:latin typeface="Courier"/>
              </a:rPr>
              <a:t>avPlots(model)</a:t>
            </a:r>
          </a:p>
          <a:p>
            <a:pPr lvl="2"/>
            <a:r>
              <a:rPr/>
              <a:t>Or for just one predictor - </a:t>
            </a:r>
            <a:r>
              <a:rPr>
                <a:latin typeface="Courier"/>
              </a:rPr>
              <a:t>avPlot(model, variable = "proportion_black")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of Y vs. each X does not consider effect of other predictors:</a:t>
            </a:r>
          </a:p>
          <a:p>
            <a:pPr lvl="0" indent="0" marL="0">
              <a:buNone/>
            </a:pPr>
            <a:r>
              <a:rPr/>
              <a:t>want to know shape of relationship while holding other predictors constant</a:t>
            </a:r>
          </a:p>
        </p:txBody>
      </p:sp>
      <p:pic>
        <p:nvPicPr>
          <p:cNvPr descr="10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predictor variables are often correlated (e.g., morphometrics, nutrients, climatic parameters)</a:t>
            </a:r>
          </a:p>
          <a:p>
            <a:pPr lvl="0"/>
            <a:r>
              <a:rPr/>
              <a:t>Multicollinearity (strong correlation between predictors) causes problems for parameter estimates</a:t>
            </a:r>
          </a:p>
          <a:p>
            <a:pPr lvl="0"/>
            <a:r>
              <a:rPr/>
              <a:t>Severe collinearity causes unstable parameter estimates: small change in a single value can result in large changes in βp - estimates</a:t>
            </a:r>
          </a:p>
          <a:p>
            <a:pPr lvl="0"/>
            <a:r>
              <a:rPr/>
              <a:t>Inflates partial slope error estimates, loss of power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elevation   latitude    ant_spp
elevation  1.0000000  0.1787454 -0.5545244
latitude   0.1787454  1.0000000 -0.5879407
ant_spp   -0.5545244 -0.5879407  1.0000000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Collinearity can be detected by:</a:t>
            </a:r>
          </a:p>
          <a:p>
            <a:pPr lvl="0"/>
            <a:r>
              <a:rPr/>
              <a:t>Variance inflation Factors </a:t>
            </a:r>
            <a:r>
              <a:rPr b="1"/>
              <a:t>(VIF)</a:t>
            </a:r>
            <a:r>
              <a:rPr/>
              <a:t>:</a:t>
            </a:r>
          </a:p>
          <a:p>
            <a:pPr lvl="1"/>
            <a:r>
              <a:rPr/>
              <a:t>VIF for X</a:t>
            </a:r>
            <a:r>
              <a:rPr baseline="-25000"/>
              <a:t>j</a:t>
            </a:r>
            <a:r>
              <a:rPr/>
              <a:t>=1/ (1-r</a:t>
            </a:r>
            <a:r>
              <a:rPr baseline="30000"/>
              <a:t>2</a:t>
            </a:r>
            <a:r>
              <a:rPr/>
              <a:t> )</a:t>
            </a:r>
          </a:p>
          <a:p>
            <a:pPr lvl="1"/>
            <a:r>
              <a:rPr/>
              <a:t>VIF &gt; 10 = bad</a:t>
            </a:r>
          </a:p>
          <a:p>
            <a:pPr lvl="0"/>
            <a:r>
              <a:rPr/>
              <a:t>Best/simplest solution:</a:t>
            </a:r>
          </a:p>
          <a:p>
            <a:pPr lvl="1"/>
            <a:r>
              <a:rPr/>
              <a:t>exclude variables that are highly correlated with other variables</a:t>
            </a:r>
          </a:p>
          <a:p>
            <a:pPr lvl="1"/>
            <a:r>
              <a:rPr/>
              <a:t>they are probably measuring similar things and are redundant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Interactions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Predictors can be modeled as:</a:t>
                </a:r>
              </a:p>
              <a:p>
                <a:pPr lvl="0"/>
                <a:r>
                  <a:rPr b="1" u="sng"/>
                  <a:t>additive (effect of temp, plus precip, plus fertility) or</a:t>
                </a:r>
              </a:p>
              <a:p>
                <a:pPr lvl="0"/>
                <a:r>
                  <a:rPr b="1" u="sng"/>
                  <a:t>multiplicative (interactive)</a:t>
                </a:r>
              </a:p>
              <a:p>
                <a:pPr lvl="0"/>
                <a:r>
                  <a:rPr b="1"/>
                  <a:t>Interaction: effect of Xi depends on levels of Xj</a:t>
                </a:r>
              </a:p>
              <a:p>
                <a:pPr lvl="0"/>
                <a:r>
                  <a:rPr/>
                  <a:t>The partial slope of Y vs. X</a:t>
                </a:r>
                <a:r>
                  <a:rPr baseline="-25000"/>
                  <a:t>1</a:t>
                </a:r>
                <a:r>
                  <a:rPr/>
                  <a:t> is different for different levels of X</a:t>
                </a:r>
                <a:r>
                  <a:rPr baseline="-25000"/>
                  <a:t>2</a:t>
                </a:r>
                <a:r>
                  <a:rPr/>
                  <a:t> (and vice versa); measured by β</a:t>
                </a:r>
                <a:r>
                  <a:rPr baseline="-25000"/>
                  <a:t>3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vs.</m:t>
                      </m:r>
                      <m:r>
                        <m:t> 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*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leads to “Curvature” of the regression (hyper)plane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Interaction terms lead to “Curvature” of the regression (hyper)plane</a:t>
            </a:r>
          </a:p>
        </p:txBody>
      </p:sp>
      <p:pic>
        <p:nvPicPr>
          <p:cNvPr descr="10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Adding interactions:</a:t>
            </a:r>
          </a:p>
          <a:p>
            <a:pPr lvl="0"/>
            <a:r>
              <a:rPr/>
              <a:t>many more predictors (“parameter proliferation”):</a:t>
            </a:r>
          </a:p>
          <a:p>
            <a:pPr lvl="0"/>
            <a:r>
              <a:rPr/>
              <a:t>2</a:t>
            </a:r>
            <a:r>
              <a:rPr baseline="30000"/>
              <a:t>n</a:t>
            </a:r>
            <a:r>
              <a:rPr/>
              <a:t> is required; 6 parameters = 64 terms; 7 parameters= 128</a:t>
            </a:r>
          </a:p>
          <a:p>
            <a:pPr lvl="0"/>
            <a:r>
              <a:rPr/>
              <a:t>interpretation more complex</a:t>
            </a:r>
          </a:p>
          <a:p>
            <a:pPr lvl="0"/>
            <a:r>
              <a:rPr/>
              <a:t>When to include interactions? When they make biological sense!!!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Dummy variables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Linear Regression accommodates continuous and categorical variables</a:t>
            </a:r>
            <a:r>
              <a:rPr/>
              <a:t> (gender, vegetation type, etc.) Categorical vars as “dummy vars”, n of dummy variables = n-1 categories</a:t>
            </a:r>
          </a:p>
          <a:p>
            <a:pPr lvl="0"/>
            <a:r>
              <a:rPr b="1"/>
              <a:t>Sex M/F:</a:t>
            </a:r>
          </a:p>
          <a:p>
            <a:pPr lvl="1"/>
            <a:r>
              <a:rPr/>
              <a:t>Need 1 dummy var with two values (0, 1)</a:t>
            </a:r>
          </a:p>
          <a:p>
            <a:pPr lvl="0"/>
            <a:r>
              <a:rPr b="1"/>
              <a:t>Fertility L/M/H:</a:t>
            </a:r>
          </a:p>
          <a:p>
            <a:pPr lvl="1"/>
            <a:r>
              <a:rPr/>
              <a:t>Need 2 dummy var, each with two values (0, 1): fert1 (0 if L or H, 1 if M), fert2 (1 if H, 0 if L or M)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 interpreted relative to reference condition</a:t>
            </a:r>
          </a:p>
          <a:p>
            <a:pPr lvl="0"/>
            <a:r>
              <a:rPr/>
              <a:t>R codes dummy variables automatically</a:t>
            </a:r>
          </a:p>
          <a:p>
            <a:pPr lvl="0"/>
            <a:r>
              <a:rPr/>
              <a:t>picks “reference” level alphabetically</a:t>
            </a:r>
          </a:p>
          <a:p>
            <a:pPr lvl="0"/>
            <a:r>
              <a:rPr/>
              <a:t>Dummy variables with more than 2 levels add extra predictor variables to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pic>
        <p:nvPicPr>
          <p:cNvPr descr="images/clipboard-384796269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952500"/>
            <a:ext cx="60071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32854440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1422400"/>
            <a:ext cx="27813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When have multiple predictors (and interactions!)</a:t>
            </a:r>
          </a:p>
          <a:p>
            <a:pPr lvl="1"/>
            <a:r>
              <a:rPr/>
              <a:t>how to choose “best” model?</a:t>
            </a:r>
          </a:p>
          <a:p>
            <a:pPr lvl="1"/>
            <a:r>
              <a:rPr/>
              <a:t>Which predictors to include?</a:t>
            </a:r>
          </a:p>
          <a:p>
            <a:pPr lvl="1"/>
            <a:r>
              <a:rPr/>
              <a:t>Occam’s razor: “best” model balances complexity with fit to data</a:t>
            </a:r>
          </a:p>
          <a:p>
            <a:pPr lvl="0"/>
            <a:r>
              <a:rPr/>
              <a:t>To chose:</a:t>
            </a:r>
          </a:p>
          <a:p>
            <a:pPr lvl="1"/>
            <a:r>
              <a:rPr/>
              <a:t>compare “nested” models</a:t>
            </a:r>
          </a:p>
          <a:p>
            <a:pPr lvl="0"/>
            <a:r>
              <a:rPr/>
              <a:t>Overfitting</a:t>
            </a:r>
          </a:p>
          <a:p>
            <a:pPr lvl="1"/>
            <a:r>
              <a:rPr/>
              <a:t>getting high r2 just by having more (useless predictors)</a:t>
            </a:r>
          </a:p>
          <a:p>
            <a:pPr lvl="1"/>
            <a:r>
              <a:rPr/>
              <a:t>so r2 is not a good way of choosing between nested models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Need to account for increase in fit with added predictors:</a:t>
                </a:r>
              </a:p>
              <a:p>
                <a:pPr lvl="0"/>
                <a:r>
                  <a:rPr/>
                  <a:t>Adjusted r2</a:t>
                </a:r>
              </a:p>
              <a:p>
                <a:pPr lvl="0"/>
                <a:r>
                  <a:rPr/>
                  <a:t>Akaike’s information criterion (AIC)</a:t>
                </a:r>
              </a:p>
              <a:p>
                <a:pPr lvl="0"/>
                <a:r>
                  <a:rPr/>
                  <a:t>Both “penalize” models for extra predictors</a:t>
                </a:r>
              </a:p>
              <a:p>
                <a:pPr lvl="0"/>
                <a:r>
                  <a:rPr/>
                  <a:t>Higher adjusted r2 and lower AIC are better when comparing models</a:t>
                </a:r>
              </a:p>
              <a:p>
                <a:pPr lvl="1"/>
                <a:r>
                  <a:rPr/>
                  <a:t>p = predictors</a:t>
                </a:r>
              </a:p>
              <a:p>
                <a:pPr lvl="1"/>
                <a:r>
                  <a:rPr/>
                  <a:t>n = #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Adjusted </m:t>
                      </m:r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Akaike Information Criterion (AIC)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Residual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But how to compare models?</a:t>
            </a:r>
          </a:p>
          <a:p>
            <a:pPr lvl="1"/>
            <a:r>
              <a:rPr/>
              <a:t>Can fit all possible models</a:t>
            </a:r>
          </a:p>
          <a:p>
            <a:pPr lvl="2"/>
            <a:r>
              <a:rPr/>
              <a:t>compare AICs or adj- r2,</a:t>
            </a:r>
          </a:p>
          <a:p>
            <a:pPr lvl="2"/>
            <a:r>
              <a:rPr/>
              <a:t>tedious w lots of predictors</a:t>
            </a:r>
          </a:p>
          <a:p>
            <a:pPr lvl="1"/>
            <a:r>
              <a:rPr/>
              <a:t>Automated forward (and backward) stepwise procedures: start w no terms (all terms), add (remove) terms w largest (smallest)</a:t>
            </a:r>
          </a:p>
          <a:p>
            <a:pPr lvl="2"/>
            <a:r>
              <a:rPr/>
              <a:t>partial F statistic</a:t>
            </a:r>
          </a:p>
          <a:p>
            <a:pPr lvl="0"/>
            <a:r>
              <a:rPr/>
              <a:t>We will use manual form of backward selection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FULL MODEL (Both Variables)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ELEVATION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elevation, data = ant_df)
Residuals:
    Min      1Q  Median      3Q     Max 
-4.9010 -2.6947 -0.9502  2.9657  7.6363 
Coefficients:
             Estimate Std. Error t value Pr(&gt;|t|)    
(Intercept) 12.589088   1.385615   9.086 1.55e-08 ***
elevation   -0.014641   0.004913  -2.980   0.0074 ** 
---
Signif. codes:  0 '***' 0.001 '**' 0.01 '*' 0.05 '.' 0.1 ' ' 1
Residual standard error: 3.671 on 20 degrees of freedom
Multiple R-squared:  0.3075,    Adjusted R-squared:  0.2729 
F-statistic: 8.881 on 1 and 20 DF,  p-value: 0.0074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LATITUDE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latitude, data = ant_df)
Residuals:
    Min      1Q  Median      3Q     Max 
-6.2223 -2.1188  0.0599  2.1267  6.4990 
Coefficients:
            Estimate Std. Error t value Pr(&gt;|t|)   
(Intercept) 109.8532    30.9803   3.546  0.00203 **
latitude     -2.3401     0.7199  -3.251  0.00401 **
---
Signif. codes:  0 '***' 0.001 '**' 0.01 '*' 0.05 '.' 0.1 ' ' 1
Residual standard error: 3.569 on 20 degrees of freedom
Multiple R-squared:  0.3457,    Adjusted R-squared:  0.313 
F-statistic: 10.57 on 1 and 20 DF,  p-value: 0.004006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MODEL COMPARISON TABLE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Model Adjusted_R2      AIC R2_vs_Full AIC_vs_Full
1 Both Variables   0.5074180 115.8646  0.0000000    0.000000
2 Elevation Only   0.2728722 123.5608 -0.2345459    7.696164
3  Latitude Only   0.3129580 122.3132 -0.1944600    6.448613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KEY FINDINGS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Full Model AIC: 115.86 (Adjusted R²: 0.5074)</a:t>
            </a:r>
          </a:p>
          <a:p>
            <a:pPr lvl="0" indent="0">
              <a:buNone/>
            </a:pPr>
            <a:r>
              <a:rPr>
                <a:latin typeface="Courier"/>
              </a:rPr>
              <a:t>Elevation Only AIC: 123.56 (Adjusted R²: 0.2729)</a:t>
            </a:r>
          </a:p>
          <a:p>
            <a:pPr lvl="0" indent="0">
              <a:buNone/>
            </a:pPr>
            <a:r>
              <a:rPr>
                <a:latin typeface="Courier"/>
              </a:rPr>
              <a:t>Latitude Only AIC: 122.31 (Adjusted R²: 0.3130)</a:t>
            </a:r>
          </a:p>
          <a:p>
            <a:pPr lvl="0" indent="0">
              <a:buNone/>
            </a:pPr>
            <a:r>
              <a:rPr>
                <a:latin typeface="Courier"/>
              </a:rPr>
              <a:t>
--- Differences from Full Model ---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latitude: AIC increases by 7.70, Adj R² decreases by -0.2345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elevation: AIC increases by 6.45, Adj R² decreases by -0.1945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CONCLUSION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LOWEST AIC (best fit)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HIGHEST Adjusted R² (explains most variance)</a:t>
            </a:r>
          </a:p>
          <a:p>
            <a:pPr lvl="0" indent="0">
              <a:buNone/>
            </a:pPr>
            <a:r>
              <a:rPr>
                <a:latin typeface="Courier"/>
              </a:rPr>
              <a:t>✗ Removing either variable worsens model performance</a:t>
            </a:r>
          </a:p>
          <a:p>
            <a:pPr lvl="0" indent="0">
              <a:buNone/>
            </a:pPr>
            <a:r>
              <a:rPr>
                <a:latin typeface="Courier"/>
              </a:rPr>
              <a:t>
Both elevation and latitude are important predictors of ant species diversity!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Usually want to know relative importance of predictors to explaining Y</a:t>
            </a:r>
          </a:p>
          <a:p>
            <a:pPr lvl="0"/>
            <a:r>
              <a:rPr/>
              <a:t>Three general approaches:</a:t>
            </a:r>
          </a:p>
          <a:p>
            <a:pPr lvl="0"/>
            <a:r>
              <a:rPr/>
              <a:t>Using F-tests (or t-tests) on partial regression slopes</a:t>
            </a:r>
          </a:p>
          <a:p>
            <a:pPr lvl="0"/>
            <a:r>
              <a:rPr/>
              <a:t>Using coefficient of partial determination</a:t>
            </a:r>
          </a:p>
          <a:p>
            <a:pPr lvl="0"/>
            <a:r>
              <a:rPr/>
              <a:t>Using standardized partial regression slopes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F-tests (or t-tests) on partial regression slopes:</a:t>
            </a:r>
          </a:p>
          <a:p>
            <a:pPr lvl="0"/>
            <a:r>
              <a:rPr/>
              <a:t>Conduct F tests of Ho that each partial regression slope = 0</a:t>
            </a:r>
          </a:p>
          <a:p>
            <a:pPr lvl="0"/>
            <a:r>
              <a:rPr/>
              <a:t>If cannot reject Ho, discard predictor</a:t>
            </a:r>
          </a:p>
          <a:p>
            <a:pPr lvl="0"/>
            <a:r>
              <a:rPr/>
              <a:t>Can get additional clues from relative size of F-values</a:t>
            </a:r>
          </a:p>
          <a:p>
            <a:pPr lvl="0"/>
            <a:r>
              <a:rPr/>
              <a:t>Does not tell us absolute importance of predictor (usually can not directly compare slope parameters)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coefficient of partial determination:</a:t>
                </a:r>
              </a:p>
              <a:p>
                <a:pPr lvl="0"/>
                <a:r>
                  <a:rPr/>
                  <a:t>the reduction in variation of Y due to addition of predictor (Xj)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r</m:t>
                          </m:r>
                        </m:e>
                        <m:sub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Extra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Reduced </m:t>
                          </m:r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SSextra</a:t>
                </a:r>
              </a:p>
              <a:p>
                <a:pPr lvl="0"/>
                <a:r>
                  <a:rPr/>
                  <a:t>Increased in SSregression when Xj is added to model</a:t>
                </a:r>
              </a:p>
              <a:p>
                <a:pPr lvl="0"/>
                <a:r>
                  <a:rPr/>
                  <a:t>Reduced SSresidual is the unexplained SS from model without Xj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standardized partial regression slopes:</a:t>
            </a:r>
          </a:p>
          <a:p>
            <a:pPr lvl="0"/>
            <a:r>
              <a:rPr/>
              <a:t>predictors of predictor variables can not be directly compared</a:t>
            </a:r>
          </a:p>
          <a:p>
            <a:pPr lvl="0"/>
            <a:r>
              <a:rPr/>
              <a:t>Why?</a:t>
            </a:r>
          </a:p>
          <a:p>
            <a:pPr lvl="1"/>
            <a:r>
              <a:rPr/>
              <a:t>Standardize all vars (mean = 0, sd= 1)</a:t>
            </a:r>
          </a:p>
          <a:p>
            <a:pPr lvl="1"/>
            <a:r>
              <a:rPr/>
              <a:t>Scales are identical and larger PRS mean more important variable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partial r</a:t>
            </a:r>
            <a:r>
              <a:rPr baseline="30000"/>
              <a:t>2</a:t>
            </a:r>
            <a:r>
              <a:rPr/>
              <a:t> values</a:t>
            </a:r>
          </a:p>
          <a:p>
            <a:pPr lvl="1"/>
            <a:r>
              <a:rPr b="1"/>
              <a:t>pEta_sqr (Partial Eta Squared):</a:t>
            </a:r>
          </a:p>
          <a:p>
            <a:pPr lvl="2"/>
            <a:r>
              <a:rPr b="1"/>
              <a:t>Elevation: 0.3189 (31.9%)</a:t>
            </a:r>
            <a:r>
              <a:rPr/>
              <a:t> - Elevation explains 31.9% of the variance </a:t>
            </a:r>
            <a:r>
              <a:rPr i="1"/>
              <a:t>after controlling for latitude</a:t>
            </a:r>
          </a:p>
          <a:p>
            <a:pPr lvl="2"/>
            <a:r>
              <a:rPr b="1"/>
              <a:t>Latitude: 0.3564 (35.6%)</a:t>
            </a:r>
            <a:r>
              <a:rPr/>
              <a:t> - Latitude explains 35.6% of the variance </a:t>
            </a:r>
            <a:r>
              <a:rPr i="1"/>
              <a:t>after controlling for elevation</a:t>
            </a:r>
          </a:p>
          <a:p>
            <a:pPr lvl="2"/>
            <a:r>
              <a:rPr/>
              <a:t>Both are important predictors! Latitude is slightly stronger</a:t>
            </a:r>
          </a:p>
          <a:p>
            <a:pPr lvl="0"/>
            <a:r>
              <a:rPr/>
              <a:t>dR_sqr (Delta R Squared / Semi-partial R²):</a:t>
            </a:r>
          </a:p>
          <a:p>
            <a:pPr lvl="1"/>
            <a:r>
              <a:rPr/>
              <a:t>Elevation: 0.2087 (20.9%)</a:t>
            </a:r>
          </a:p>
          <a:p>
            <a:pPr lvl="2"/>
            <a:r>
              <a:rPr/>
              <a:t>If you removed elevation from the model, R² would drop by 20.9%</a:t>
            </a:r>
          </a:p>
          <a:p>
            <a:pPr lvl="1"/>
            <a:r>
              <a:rPr/>
              <a:t>Latitude: 0.2468 (24.7%)</a:t>
            </a:r>
          </a:p>
          <a:p>
            <a:pPr lvl="1"/>
            <a:r>
              <a:rPr/>
              <a:t>If you removed latitude from the model, R² would drop by 24.7%</a:t>
            </a:r>
          </a:p>
          <a:p>
            <a:pPr lvl="0"/>
            <a:r>
              <a:rPr/>
              <a:t>Shows the unique contribution of each predictor to the total variance explained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10 - Multiple Regression</dc:title>
  <dc:creator>Bill Perry</dc:creator>
  <cp:keywords/>
  <dcterms:created xsi:type="dcterms:W3CDTF">2026-05-06T02:21:14Z</dcterms:created>
  <dcterms:modified xsi:type="dcterms:W3CDTF">2026-05-06T02:21:14Z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