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an ANOVA IS A REGRESSION WIHT DUMMY VARIABLES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document demonstrates how Analysis of Variance (ANOVA) is mathematically equivalent to a regression model with dummy variables using an example with R code and visualizations.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Setup and Data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begin by loading necessary packages and creating a dataframe about plant heights with three different fertilizer treatments.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791312156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804225"/>
                <a:gridCol w="679805"/>
              </a:tblGrid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Calculating Group Means (ANOVA Approach)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ANOVA, we calculate the mean of each group and compare variation between groups to variation within groups.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129795283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804225"/>
                <a:gridCol w="1122439"/>
              </a:tblGrid>
              <a:tr h="392356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fertilizer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mean_height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1114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138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B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629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visualize the raw data and group means:</a:t>
            </a:r>
          </a:p>
        </p:txBody>
      </p:sp>
      <p:pic>
        <p:nvPicPr>
          <p:cNvPr descr="11_04_how_anova_is_dummy_var_regression_files/figure-pptx/plot-raw-data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549400"/>
            <a:ext cx="5232400" cy="261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Running the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      Df Sum Sq Mean Sq F value Pr(&gt;F)   
fertilizer   2    216     108      27  0.001 **
Residuals    6     24       4                  
---
Signif. codes:  0 '***' 0.001 '**' 0.01 '*' 0.05 '.' 0.1 ' ' 1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Regression with Dummy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the regression approach, we’ll create dummy variables for fertilizer types, using fertilizer A as the reference level.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height ~ fertilizer, data = fertilizer_data)
Residuals:
   Min     1Q Median     3Q    Max 
    -2     -2      0      2      2 
Coefficients:
            Estimate Std. Error t value Pr(&gt;|t|)    
(Intercept)   10.000      1.155   8.660 0.000131 ***
fertilizerB    6.000      1.633   3.674 0.010402 *  
fertilizerC   12.000      1.633   7.348 0.000325 ***
---
Signif. codes:  0 '***' 0.001 '**' 0.01 '*' 0.05 '.' 0.1 ' ' 1
Residual standard error: 2 on 6 degrees of freedom
Multiple R-squared:    0.9, Adjusted R-squared:  0.8667 
F-statistic:    27 on 2 and 6 DF,  p-value: 0.001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Understanding the Regression Coefficients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our regression model:</a:t>
            </a:r>
          </a:p>
          <a:p>
            <a:pPr lvl="0"/>
            <a:r>
              <a:rPr/>
              <a:t>The intercept (10) is equal to the mean of the reference group (A)</a:t>
            </a:r>
          </a:p>
          <a:p>
            <a:pPr lvl="0"/>
            <a:r>
              <a:rPr/>
              <a:t>The coefficient for fertilizer B (6) is the difference between mean of group B and mean of group A</a:t>
            </a:r>
          </a:p>
          <a:p>
            <a:pPr lvl="0"/>
            <a:r>
              <a:rPr/>
              <a:t>The coefficient for fertilizer C (12) is the difference between mean of group C and mean of group A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425369563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  <a:gridCol w="685800"/>
                <a:gridCol w="685800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Term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Coefficient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Meaning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Mathematical_Expression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Numeric_Value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Intercept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10.00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Mean of Group A (reference group)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β₀ = μA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fertilizerB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6.00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Difference between Group B and Group A means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β₁ = μB - μA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16 - 10 = 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fertilizerC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12.00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Difference between Group C and Group A means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β₂ = μC - μA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22 - 10 = 12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visualize these coefficients:</a:t>
            </a:r>
          </a:p>
        </p:txBody>
      </p:sp>
      <p:pic>
        <p:nvPicPr>
          <p:cNvPr descr="11_04_how_anova_is_dummy_var_regression_files/figure-pptx/plot-coefficient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549400"/>
            <a:ext cx="5232400" cy="261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Demonstrating the Equivalence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Now, let’s prove that the regression model predictions are identical to the ANOVA group means:</a:t>
            </a:r>
          </a:p>
          <a:p>
            <a:pPr lvl="0" indent="0" marL="0">
              <a:buNone/>
            </a:pPr>
            <a:r>
              <a:rPr/>
              <a:t>Let’s visualize this equivalence:</a:t>
            </a:r>
          </a:p>
        </p:txBody>
      </p:sp>
      <p:pic>
        <p:nvPicPr>
          <p:cNvPr descr="11_04_how_anova_is_dummy_var_regression_files/figure-pptx/equivalence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549400"/>
            <a:ext cx="5232400" cy="261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Comparing Statistical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Both ANOVA and regression provide an F-test. Let’s compare them: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571422091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1363230"/>
                <a:gridCol w="749860"/>
                <a:gridCol w="749860"/>
              </a:tblGrid>
              <a:tr h="390582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Test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F-value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p-value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66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ANOVA F-test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27.0000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0.0010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Regression F-test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27.0000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0.0010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Mathematical Relationship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For a one-way ANOVA with a categorical variable having </a:t>
                </a:r>
                <a:r>
                  <a:rPr>
                    <a:latin typeface="Courier"/>
                  </a:rPr>
                  <a:t>k</a:t>
                </a:r>
                <a:r>
                  <a:rPr/>
                  <a:t> levels, we can express the relationship with regression as: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Y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k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k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t>ϵ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 - </a:t>
                </a: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 is the mean of the reference group - </a:t>
                </a: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k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are the differences between each group’s mean and the reference group mean -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k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are dummy variables (0 or 1)</a:t>
                </a:r>
              </a:p>
              <a:p>
                <a:pPr lvl="0" indent="0" marL="0">
                  <a:buNone/>
                </a:pPr>
                <a:r>
                  <a:rPr/>
                  <a:t>In our example: - </a:t>
                </a: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10</m:t>
                    </m:r>
                  </m:oMath>
                </a14:m>
                <a:r>
                  <a:rPr/>
                  <a:t> (mean of group A) - </a:t>
                </a: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6</m:t>
                    </m:r>
                  </m:oMath>
                </a14:m>
                <a:r>
                  <a:rPr/>
                  <a:t> (difference between B and A) - </a:t>
                </a: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12</m:t>
                    </m:r>
                  </m:oMath>
                </a14:m>
                <a:r>
                  <a:rPr/>
                  <a:t> (difference between C and A)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demonstration shows that one-way ANOVA is mathematically equivalent to regression with dummy variables. The key equivalences are:</a:t>
            </a:r>
          </a:p>
          <a:p>
            <a:pPr lvl="0" indent="-342900" marL="342900">
              <a:buAutoNum type="arabicPeriod"/>
            </a:pPr>
            <a:r>
              <a:rPr/>
              <a:t>ANOVA group means = Regression predictions for each group</a:t>
            </a:r>
          </a:p>
          <a:p>
            <a:pPr lvl="0" indent="-342900" marL="342900">
              <a:buAutoNum type="arabicPeriod"/>
            </a:pPr>
            <a:r>
              <a:rPr/>
              <a:t>F-statistic from ANOVA = F-statistic from regression</a:t>
            </a:r>
          </a:p>
          <a:p>
            <a:pPr lvl="0" indent="-342900" marL="342900">
              <a:buAutoNum type="arabicPeriod"/>
            </a:pPr>
            <a:r>
              <a:rPr/>
              <a:t>p-values are identical in both approaches</a:t>
            </a:r>
          </a:p>
          <a:p>
            <a:pPr lvl="0" indent="0" marL="0">
              <a:buNone/>
            </a:pPr>
            <a:r>
              <a:rPr/>
              <a:t>This confirms that both techniques are special cases of the General Linear Model, just expressed in different ways. For a categorical predictor with </a:t>
            </a:r>
            <a:r>
              <a:rPr>
                <a:latin typeface="Courier"/>
              </a:rPr>
              <a:t>k</a:t>
            </a:r>
            <a:r>
              <a:rPr/>
              <a:t> levels, we need </a:t>
            </a:r>
            <a:r>
              <a:rPr>
                <a:latin typeface="Courier"/>
              </a:rPr>
              <a:t>k-1</a:t>
            </a:r>
            <a:r>
              <a:rPr/>
              <a:t> dummy variables in the regression approach, with one level serving as the reference category.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an ANOVA IS A REGRESSION WIHT DUMMY VARIABLES</dc:title>
  <dc:creator>Bill Perry</dc:creator>
  <cp:keywords/>
  <dcterms:created xsi:type="dcterms:W3CDTF">2026-05-04T00:40:55Z</dcterms:created>
  <dcterms:modified xsi:type="dcterms:W3CDTF">2026-05-04T00:40:55Z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