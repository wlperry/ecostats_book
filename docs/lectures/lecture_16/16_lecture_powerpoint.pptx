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Multivariate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Study Multivariate Data?</a:t>
            </a:r>
          </a:p>
          <a:p>
            <a:pPr lvl="0"/>
            <a:r>
              <a:rPr/>
              <a:t>In ecology, often measure many variables on the same organisms:</a:t>
            </a:r>
          </a:p>
          <a:p>
            <a:pPr lvl="1"/>
            <a:r>
              <a:rPr b="1"/>
              <a:t>Plant morphology</a:t>
            </a:r>
            <a:r>
              <a:rPr/>
              <a:t>: height, width, leaf size, flower size</a:t>
            </a:r>
          </a:p>
          <a:p>
            <a:pPr lvl="1"/>
            <a:r>
              <a:rPr b="1"/>
              <a:t>Environmental conditions</a:t>
            </a:r>
            <a:r>
              <a:rPr/>
              <a:t>: temperature, pH, nutrients</a:t>
            </a:r>
          </a:p>
          <a:p>
            <a:pPr lvl="1"/>
            <a:r>
              <a:rPr b="1"/>
              <a:t>Species composition</a:t>
            </a:r>
            <a:r>
              <a:rPr/>
              <a:t>: presence/absence, abundance</a:t>
            </a:r>
          </a:p>
          <a:p>
            <a:pPr lvl="0"/>
            <a:r>
              <a:rPr b="1"/>
              <a:t>Challenge</a:t>
            </a:r>
            <a:r>
              <a:rPr/>
              <a:t>: How do we make sense of all these variables at once?</a:t>
            </a:r>
          </a:p>
          <a:p>
            <a:pPr lvl="0"/>
            <a:r>
              <a:rPr b="1"/>
              <a:t>PCA helps by</a:t>
            </a:r>
            <a:r>
              <a:rPr/>
              <a:t>:</a:t>
            </a:r>
          </a:p>
          <a:p>
            <a:pPr lvl="1"/>
            <a:r>
              <a:rPr/>
              <a:t>Reducing many correlated variables to a few key dimensions</a:t>
            </a:r>
          </a:p>
          <a:p>
            <a:pPr lvl="1"/>
            <a:r>
              <a:rPr/>
              <a:t>Visualizing patterns in high-dimensional data</a:t>
            </a:r>
          </a:p>
          <a:p>
            <a:pPr lvl="1"/>
            <a:r>
              <a:rPr/>
              <a:t>Identifying the most important sources of variation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Darlingtonia californica (Cobra Lily)</a:t>
            </a:r>
          </a:p>
        </p:txBody>
      </p:sp>
      <p:pic>
        <p:nvPicPr>
          <p:cNvPr descr="images/clipboard-37527085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84800" y="1295400"/>
            <a:ext cx="27686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 of a cobra lily Darlingtonia californica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Study System: Darlingtonia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Cobra Lily Dataset</a:t>
            </a:r>
          </a:p>
          <a:p>
            <a:pPr lvl="0"/>
            <a:r>
              <a:rPr/>
              <a:t>Analyze morphological measurements from 89 individual </a:t>
            </a:r>
            <a:r>
              <a:rPr i="1"/>
              <a:t>Darlingtonia californica</a:t>
            </a:r>
            <a:r>
              <a:rPr/>
              <a:t> plants collected from </a:t>
            </a:r>
            <a:r>
              <a:rPr b="1"/>
              <a:t>4 sites</a:t>
            </a:r>
            <a:r>
              <a:rPr/>
              <a:t> in the Siskiyou Mountains of Oregon.</a:t>
            </a:r>
          </a:p>
          <a:p>
            <a:pPr lvl="0"/>
            <a:r>
              <a:rPr b="1"/>
              <a:t>Variables measured</a:t>
            </a:r>
            <a:r>
              <a:rPr/>
              <a:t> (10 total):</a:t>
            </a:r>
          </a:p>
          <a:p>
            <a:pPr lvl="1"/>
            <a:r>
              <a:rPr b="1"/>
              <a:t>Morphological measurements (mm)</a:t>
            </a:r>
            <a:r>
              <a:rPr/>
              <a:t>:</a:t>
            </a:r>
          </a:p>
          <a:p>
            <a:pPr lvl="2"/>
            <a:r>
              <a:rPr/>
              <a:t>height - Height of pitcher</a:t>
            </a:r>
          </a:p>
          <a:p>
            <a:pPr lvl="2"/>
            <a:r>
              <a:rPr/>
              <a:t>mouth_diam - Mouth diameter</a:t>
            </a:r>
          </a:p>
          <a:p>
            <a:pPr lvl="2"/>
            <a:r>
              <a:rPr/>
              <a:t>tube_diam - Tube diameter</a:t>
            </a:r>
          </a:p>
          <a:p>
            <a:pPr lvl="2"/>
            <a:r>
              <a:rPr/>
              <a:t>keel_diam - Keel diameter</a:t>
            </a:r>
          </a:p>
          <a:p>
            <a:pPr lvl="2"/>
            <a:r>
              <a:rPr/>
              <a:t>wing1_length, wing2_length</a:t>
            </a:r>
          </a:p>
          <a:p>
            <a:pPr lvl="2"/>
            <a:r>
              <a:rPr/>
              <a:t>Wing lengths (2 measurements)</a:t>
            </a:r>
          </a:p>
          <a:p>
            <a:pPr lvl="2"/>
            <a:r>
              <a:rPr/>
              <a:t>wingsprea - Wing spread</a:t>
            </a:r>
          </a:p>
          <a:p>
            <a:pPr lvl="1"/>
            <a:r>
              <a:rPr b="1"/>
              <a:t>Biomass measurements (g)</a:t>
            </a:r>
            <a:r>
              <a:rPr/>
              <a:t>:</a:t>
            </a:r>
          </a:p>
          <a:p>
            <a:pPr lvl="2"/>
            <a:r>
              <a:rPr/>
              <a:t>hoodmass_g - Hood mass</a:t>
            </a:r>
          </a:p>
          <a:p>
            <a:pPr lvl="2"/>
            <a:r>
              <a:rPr/>
              <a:t>tubemass_g - Tube mass</a:t>
            </a:r>
          </a:p>
          <a:p>
            <a:pPr lvl="2"/>
            <a:r>
              <a:rPr/>
              <a:t>wingmass_g - Wing mass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![Darlingtonia pitcher structure showing measured features\]</a:t>
            </a:r>
          </a:p>
        </p:txBody>
      </p:sp>
      <p:pic>
        <p:nvPicPr>
          <p:cNvPr descr="images/clipboard-400536925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86400" y="1295400"/>
            <a:ext cx="256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**Sites**:</a:t>
            </a:r>
          </a:p>
          <a:p>
            <a:pPr lvl="0"/>
            <a:r>
              <a:rPr/>
              <a:t>TJH: T.J. Howell’s Fen</a:t>
            </a:r>
          </a:p>
          <a:p>
            <a:pPr lvl="0"/>
            <a:r>
              <a:rPr/>
              <a:t>DG: Day’s Gulch</a:t>
            </a:r>
          </a:p>
          <a:p>
            <a:pPr lvl="0"/>
            <a:r>
              <a:rPr/>
              <a:t>LEH: L.E. Hunter’s Fen</a:t>
            </a:r>
          </a:p>
          <a:p>
            <a:pPr lvl="0"/>
            <a:r>
              <a:rPr/>
              <a:t>HD: High Divide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Import and Prepare the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"darlingtonia.csv"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structure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(darlingtonia)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6 × 11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height mouth_diam tube_diam keel_diam wing1_length wing2_length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    &lt;dbl&gt;     &lt;dbl&gt;     &lt;dbl&gt;        &lt;dbl&gt; 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TJH      654       38.4      16.6       6.4           85           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TJH      413       22.2      17.2       5.9           55           26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TJH      610       31.2      19.9       6.7           62           60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546       34.4      20.8       6.3           84           79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5 TJH      665       30.5      20.4       6.6           60           51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6 TJH      665       33.6      19.5       6.6           84           66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ℹ 4 more variables: wingsprea &lt;dbl&gt;, hoodmass_g &lt;dbl&gt;, tubemass_g &lt;dbl&gt;,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  wingmass_g &lt;dbl&gt;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(site,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"n_plants"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n_plants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   25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Exploring the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Initial Data Exploration</a:t>
            </a:r>
          </a:p>
          <a:p>
            <a:pPr lvl="0" indent="0" marL="0">
              <a:buNone/>
            </a:pPr>
            <a:r>
              <a:rPr/>
              <a:t>Before any analysis, we should </a:t>
            </a:r>
            <a:r>
              <a:rPr b="1"/>
              <a:t>always look at our data</a:t>
            </a:r>
            <a:r>
              <a:rPr/>
              <a:t>:</a:t>
            </a:r>
          </a:p>
          <a:p>
            <a:pPr lvl="0"/>
            <a:r>
              <a:rPr/>
              <a:t>Check for outliers</a:t>
            </a:r>
          </a:p>
          <a:p>
            <a:pPr lvl="0"/>
            <a:r>
              <a:rPr/>
              <a:t>Examine distributions</a:t>
            </a:r>
          </a:p>
          <a:p>
            <a:pPr lvl="0"/>
            <a:r>
              <a:rPr/>
              <a:t>Look for patterns by site</a:t>
            </a:r>
          </a:p>
          <a:p>
            <a:pPr lvl="0"/>
            <a:r>
              <a:rPr/>
              <a:t>Understand variable scales</a:t>
            </a:r>
          </a:p>
          <a:p>
            <a:pPr lvl="0" indent="0" marL="0">
              <a:buNone/>
            </a:pPr>
            <a:r>
              <a:rPr b="1"/>
              <a:t>Key observations</a:t>
            </a:r>
            <a:r>
              <a:rPr/>
              <a:t>:</a:t>
            </a:r>
          </a:p>
          <a:p>
            <a:pPr lvl="0"/>
            <a:r>
              <a:rPr/>
              <a:t>Variables measured in different units (mm vs. g)</a:t>
            </a:r>
          </a:p>
          <a:p>
            <a:pPr lvl="0"/>
            <a:r>
              <a:rPr/>
              <a:t>Different ranges: height (hundreds) vs. biomass (fractions)</a:t>
            </a:r>
          </a:p>
          <a:p>
            <a:pPr lvl="0"/>
            <a:r>
              <a:rPr/>
              <a:t>Need to standardize before PCA!</a:t>
            </a:r>
          </a:p>
        </p:txBody>
      </p:sp>
      <p:pic>
        <p:nvPicPr>
          <p:cNvPr descr="16_lecture_powerpoint_files/figure-pptx/explore_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of Different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Standardization Matters</a:t>
                </a:r>
              </a:p>
              <a:p>
                <a:pPr lvl="0"/>
                <a:r>
                  <a:rPr b="1"/>
                  <a:t>Without standardization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Variables with larger values (like height in mm) would dominate the analysis over variables with smaller values (like biomass in g).</a:t>
                </a:r>
              </a:p>
              <a:p>
                <a:pPr lvl="0"/>
                <a:r>
                  <a:rPr b="1"/>
                  <a:t>Example from data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Height: mean ≈ 600 mm, range 322-845 mm -</a:t>
                </a:r>
              </a:p>
              <a:p>
                <a:pPr lvl="1"/>
                <a:r>
                  <a:rPr/>
                  <a:t>Wing mass: mean ≈ 0.16 g, range 0.02-5.00 g</a:t>
                </a:r>
              </a:p>
              <a:p>
                <a:pPr lvl="0"/>
                <a:r>
                  <a:rPr/>
                  <a:t>calculated distances without standardizing, height would have 1000× more influence than wing mass!</a:t>
                </a:r>
              </a:p>
              <a:p>
                <a:pPr lvl="0"/>
                <a:r>
                  <a:rPr b="1"/>
                  <a:t>Solution: Z-score standardization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s</m:t>
                        </m:r>
                      </m:den>
                    </m:f>
                  </m:oMath>
                </a14:m>
              </a:p>
              <a:p>
                <a:pPr lvl="0"/>
                <a:r>
                  <a:rPr/>
                  <a:t>transforms each variable to:</a:t>
                </a:r>
              </a:p>
              <a:p>
                <a:pPr lvl="1"/>
                <a:r>
                  <a:rPr/>
                  <a:t>Mean = 0</a:t>
                </a:r>
              </a:p>
              <a:p>
                <a:pPr lvl="1"/>
                <a:r>
                  <a:rPr/>
                  <a:t>Standard deviation = 1</a:t>
                </a:r>
              </a:p>
              <a:p>
                <a:pPr lvl="1"/>
                <a:r>
                  <a:rPr/>
                  <a:t>Units: “standard deviations from the mean”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Before standardization:</a:t>
            </a:r>
            <a:r>
              <a:rPr/>
              <a:t> - Height dominates (larger scale)</a:t>
            </a:r>
          </a:p>
          <a:p>
            <a:pPr lvl="0"/>
            <a:r>
              <a:rPr b="1"/>
              <a:t>After standardization:</a:t>
            </a:r>
          </a:p>
          <a:p>
            <a:pPr lvl="1"/>
            <a:r>
              <a:rPr/>
              <a:t>All variables contribute equally</a:t>
            </a:r>
          </a:p>
          <a:p>
            <a:pPr lvl="1"/>
            <a:r>
              <a:rPr/>
              <a:t>Measured in “standard deviations”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Example: standardize height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(wingmass_g),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(wingmass_g)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1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mean_height sd_height mean_wingmass sd_wingmass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&lt;dbl&gt;     &lt;dbl&gt;         &lt;dbl&gt;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       616.      101.         0.154       0.102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After standardization, both will have: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mean = 0, sd = 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Measuring Multivariate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Euclidean Distance Between Individuals</a:t>
                </a:r>
              </a:p>
              <a:p>
                <a:pPr lvl="0"/>
                <a:r>
                  <a:rPr/>
                  <a:t>How different are two plants?</a:t>
                </a:r>
              </a:p>
              <a:p>
                <a:pPr lvl="1"/>
                <a:r>
                  <a:rPr/>
                  <a:t>For two plants measured on multiple variables, calculate </a:t>
                </a:r>
                <a:r>
                  <a:rPr b="1"/>
                  <a:t>Euclidean distance</a:t>
                </a:r>
                <a:r>
                  <a:rPr/>
                  <a:t>:</a:t>
                </a:r>
              </a:p>
              <a:p>
                <a:pPr lvl="2"/>
                <a:r>
                  <a:rPr b="1"/>
                  <a:t>For 2 variables</a:t>
                </a:r>
                <a:r>
                  <a:rPr/>
                  <a:t> (height and spread):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 b="1"/>
                  <a:t>For n variables</a:t>
                </a:r>
                <a:r>
                  <a:rPr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/>
                  <a:t>Pythagorean theorem extended to many dimensions!</a:t>
                </a:r>
              </a:p>
              <a:p>
                <a:pPr lvl="2"/>
                <a:r>
                  <a:rPr b="1"/>
                  <a:t>Key point</a:t>
                </a:r>
                <a:r>
                  <a:rPr/>
                  <a:t>: Distance should use </a:t>
                </a:r>
                <a:r>
                  <a:rPr i="1"/>
                  <a:t>standardized</a:t>
                </a:r>
                <a:r>
                  <a:rPr/>
                  <a:t> values so all variables contribute equally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Distance between plants 1 and 2 (standardized):
##  3.53 standard deviations
## 
##  
## Note: Standardization uses mean and SD from ALL plants,
##  not just these two plants!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Standardizing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Z-score Transformation</a:t>
            </a:r>
          </a:p>
        </p:txBody>
      </p:sp>
      <p:pic>
        <p:nvPicPr>
          <p:cNvPr descr="16_lecture_powerpoint_files/figure-pptx/standardiz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816100"/>
            <a:ext cx="44323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Standardized Data</a:t>
            </a:r>
          </a:p>
        </p:txBody>
      </p:sp>
      <p:pic>
        <p:nvPicPr>
          <p:cNvPr descr="16_lecture_powerpoint_files/figure-pptx/scaled_comparison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Correlations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Correlations Matter for PCA</a:t>
            </a:r>
          </a:p>
          <a:p>
            <a:pPr lvl="0"/>
            <a:r>
              <a:rPr/>
              <a:t>PCA works best when variables are </a:t>
            </a:r>
            <a:r>
              <a:rPr b="1"/>
              <a:t>correlated</a:t>
            </a:r>
            <a:r>
              <a:rPr/>
              <a:t>:</a:t>
            </a:r>
          </a:p>
          <a:p>
            <a:pPr lvl="1"/>
            <a:r>
              <a:rPr/>
              <a:t>If variables are uncorrelated → PCA provides no benefit</a:t>
            </a:r>
          </a:p>
          <a:p>
            <a:pPr lvl="1"/>
            <a:r>
              <a:rPr/>
              <a:t>If variables are highly correlated → PCA can reduce dimensions effectively</a:t>
            </a:r>
          </a:p>
          <a:p>
            <a:pPr lvl="0"/>
            <a:r>
              <a:rPr b="1"/>
              <a:t>In data</a:t>
            </a:r>
            <a:r>
              <a:rPr/>
              <a:t>, expect correlations because:</a:t>
            </a:r>
          </a:p>
          <a:p>
            <a:pPr lvl="1"/>
            <a:r>
              <a:rPr/>
              <a:t>Larger plants have larger measurements overall</a:t>
            </a:r>
          </a:p>
          <a:p>
            <a:pPr lvl="1"/>
            <a:r>
              <a:rPr/>
              <a:t>Wing dimensions likely correlate with each other</a:t>
            </a:r>
          </a:p>
          <a:p>
            <a:pPr lvl="1"/>
            <a:r>
              <a:rPr/>
              <a:t>Mass measurements correlate with size measurements</a:t>
            </a:r>
          </a:p>
          <a:p>
            <a:pPr lvl="0"/>
            <a:r>
              <a:rPr b="1"/>
              <a:t>The correlation matrix</a:t>
            </a:r>
            <a:r>
              <a:rPr/>
              <a:t> shows relationships between all pairs of variables.</a:t>
            </a:r>
          </a:p>
          <a:p>
            <a:pPr lvl="0"/>
            <a:r>
              <a:rPr/>
              <a:t>Strong correlations (positive or negative) suggest PCA will be useful!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Strong positive correlations</a:t>
            </a:r>
            <a:r>
              <a:rPr/>
              <a:t> (dark blue) suggest variables measure similar aspects of plant size/shape.</a:t>
            </a:r>
          </a:p>
        </p:txBody>
      </p:sp>
      <p:pic>
        <p:nvPicPr>
          <p:cNvPr descr="16_lecture_powerpoint_files/figure-pptx/correlat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Matrix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Examining Variable Relationships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height mouth_diam tube_diam keel_diam wing1_length wing2_length
## height         1.00       0.61      0.24     -0.06         0.28         0.29
## mouth_diam     0.61       1.00     -0.05     -0.39         0.57         0.44
## tube_diam      0.24      -0.05      1.00      0.65        -0.09         0.01
## keel_diam     -0.06      -0.39      0.65      1.00        -0.35        -0.24
## wing1_length   0.28       0.57     -0.09     -0.35         1.00         0.84
## wing2_length   0.29       0.44      0.01     -0.24         0.84         1.00
## wingsprea      0.12       0.25      0.10     -0.19         0.64         0.71
## hoodmass_g     0.49       0.76     -0.11     -0.34         0.61         0.49
## tubemass_g     0.84       0.72      0.10     -0.24         0.44         0.36
## wingmass_g     0.40       0.62     -0.16     -0.36         0.76         0.69
##              wingsprea hoodmass_g tubemass_g wingmass_g
## height            0.12       0.49       0.84       0.40
## mouth_diam        0.25       0.76       0.72       0.62
## tube_diam         0.10      -0.11       0.10      -0.16
## keel_diam        -0.19      -0.34      -0.24      -0.36
## wing1_length      0.64       0.61       0.44       0.76
## wing2_length      0.71       0.49       0.36       0.69
## wingsprea         1.00       0.25       0.16       0.39
## hoodmass_g        0.25       1.00       0.76       0.80
## tubemass_g        0.16       0.76       1.00       0.63
## wingmass_g        0.39       0.80       0.63       1.00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Highly correlated variables</a:t>
            </a:r>
            <a:r>
              <a:rPr/>
              <a:t>:</a:t>
            </a:r>
          </a:p>
          <a:p>
            <a:pPr lvl="1"/>
            <a:r>
              <a:rPr/>
              <a:t>Height with tube area (r=0.89)</a:t>
            </a:r>
          </a:p>
          <a:p>
            <a:pPr lvl="2"/>
            <a:r>
              <a:rPr/>
              <a:t>Wing lengths with each other (r=0.80)</a:t>
            </a:r>
          </a:p>
          <a:p>
            <a:pPr lvl="2"/>
            <a:r>
              <a:rPr/>
              <a:t>Wing area with wing spread (r=0.81)</a:t>
            </a:r>
          </a:p>
          <a:p>
            <a:pPr lvl="0"/>
            <a:r>
              <a:rPr/>
              <a:t>These correlations indicate </a:t>
            </a:r>
            <a:r>
              <a:rPr b="1"/>
              <a:t>redundancy</a:t>
            </a:r>
          </a:p>
          <a:p>
            <a:pPr lvl="0"/>
            <a:r>
              <a:rPr/>
              <a:t>multiple variables measuring similar things.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Moderate correlations</a:t>
            </a:r>
            <a:r>
              <a:rPr/>
              <a:t>:</a:t>
            </a:r>
          </a:p>
          <a:p>
            <a:pPr lvl="1"/>
            <a:r>
              <a:rPr/>
              <a:t>Most morphological variables</a:t>
            </a:r>
          </a:p>
          <a:p>
            <a:pPr lvl="1"/>
            <a:r>
              <a:rPr/>
              <a:t>Mass measurements with size</a:t>
            </a:r>
          </a:p>
          <a:p>
            <a:pPr lvl="0"/>
            <a:r>
              <a:rPr b="1"/>
              <a:t>Lower correlations</a:t>
            </a:r>
            <a:r>
              <a:rPr/>
              <a:t>:</a:t>
            </a:r>
          </a:p>
          <a:p>
            <a:pPr lvl="1"/>
            <a:r>
              <a:rPr/>
              <a:t>Some specific features like keel diameter</a:t>
            </a:r>
          </a:p>
          <a:p>
            <a:pPr lvl="0"/>
            <a:r>
              <a:rPr b="1"/>
              <a:t>PCA will help</a:t>
            </a:r>
            <a:r>
              <a:rPr/>
              <a:t> by combining correlated variables into fewer components!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Principal Component Analysis?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Concept of PCA</a:t>
                </a:r>
              </a:p>
              <a:p>
                <a:pPr lvl="0"/>
                <a:r>
                  <a:rPr/>
                  <a:t>PCA creates new variables (components) that are:</a:t>
                </a:r>
              </a:p>
              <a:p>
                <a:pPr lvl="1"/>
                <a:r>
                  <a:rPr b="1"/>
                  <a:t>Linear combinations</a:t>
                </a:r>
                <a:r>
                  <a:rPr/>
                  <a:t> of original variables</a:t>
                </a:r>
              </a:p>
              <a:p>
                <a:pPr lvl="1"/>
                <a:r>
                  <a:rPr b="1"/>
                  <a:t>Uncorrelated</a:t>
                </a:r>
                <a:r>
                  <a:rPr/>
                  <a:t> with each other</a:t>
                </a:r>
              </a:p>
              <a:p>
                <a:pPr lvl="1"/>
                <a:r>
                  <a:rPr b="1"/>
                  <a:t>Ordered by importance</a:t>
                </a:r>
                <a:r>
                  <a:rPr/>
                  <a:t> (amount of variance explained)</a:t>
                </a:r>
              </a:p>
              <a:p>
                <a:pPr lvl="0"/>
                <a:r>
                  <a:rPr b="1"/>
                  <a:t>The mathematical idea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For each plant </a:t>
                </a:r>
                <a:r>
                  <a:rPr i="1"/>
                  <a:t>i</a:t>
                </a:r>
                <a:r>
                  <a:rPr/>
                  <a:t> and component </a:t>
                </a:r>
                <a:r>
                  <a:rPr i="1"/>
                  <a:t>k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score on principal component </a:t>
                </a:r>
                <a:r>
                  <a:rPr i="1"/>
                  <a:t>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standardized value of original variable </a:t>
                </a:r>
                <a:r>
                  <a:rPr i="1"/>
                  <a:t>j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loading (weight) of variable </a:t>
                </a:r>
                <a:r>
                  <a:rPr i="1"/>
                  <a:t>j</a:t>
                </a:r>
                <a:r>
                  <a:rPr/>
                  <a:t> on component </a:t>
                </a:r>
                <a:r>
                  <a:rPr i="1"/>
                  <a:t>i</a:t>
                </a:r>
              </a:p>
              <a:p>
                <a:pPr lvl="0"/>
                <a:r>
                  <a:rPr b="1"/>
                  <a:t>Goal</a:t>
                </a:r>
                <a:r>
                  <a:rPr/>
                  <a:t>: Find loadings that maximize variance in first component, then second, etc.</a:t>
                </a:r>
              </a:p>
            </p:txBody>
          </p:sp>
        </mc:Choice>
      </mc:AlternateContent>
      <p:pic>
        <p:nvPicPr>
          <p:cNvPr descr="images/clipboard-25170152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https://upload.wikimedia.org/wikipedia/commons/thumb/f/f5/GaussianScatterPCA.svg/500px-GaussianScatterPCA.svg.png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Components are:</a:t>
            </a:r>
          </a:p>
          <a:p>
            <a:pPr lvl="0"/>
            <a:r>
              <a:rPr b="1"/>
              <a:t>1. Orthogonal (perpendicular)</a:t>
            </a:r>
          </a:p>
          <a:p>
            <a:pPr lvl="1"/>
            <a:r>
              <a:rPr/>
              <a:t>Components are uncorrelated</a:t>
            </a:r>
          </a:p>
          <a:p>
            <a:pPr lvl="1"/>
            <a:r>
              <a:rPr/>
              <a:t>Each captures independent information</a:t>
            </a:r>
          </a:p>
          <a:p>
            <a:pPr lvl="0"/>
            <a:r>
              <a:rPr b="1"/>
              <a:t>2. Ordered by variance</a:t>
            </a:r>
          </a:p>
          <a:p>
            <a:pPr lvl="1"/>
            <a:r>
              <a:rPr/>
              <a:t>PC1 explains the most variance</a:t>
            </a:r>
          </a:p>
          <a:p>
            <a:pPr lvl="1"/>
            <a:r>
              <a:rPr/>
              <a:t>PC2 explains second most (of remaining variance)</a:t>
            </a:r>
          </a:p>
          <a:p>
            <a:pPr lvl="1"/>
            <a:r>
              <a:rPr/>
              <a:t>And so on…</a:t>
            </a:r>
          </a:p>
          <a:p>
            <a:pPr lvl="0"/>
            <a:r>
              <a:rPr b="1"/>
              <a:t>3. Linear combinations</a:t>
            </a:r>
          </a:p>
          <a:p>
            <a:pPr lvl="1"/>
            <a:r>
              <a:rPr/>
              <a:t>Each component is a weighted sum of original variables</a:t>
            </a:r>
          </a:p>
          <a:p>
            <a:pPr lvl="1"/>
            <a:r>
              <a:rPr/>
              <a:t>Weights (loadings) show variable importance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matters:</a:t>
            </a:r>
          </a:p>
          <a:p>
            <a:pPr lvl="0"/>
            <a:r>
              <a:rPr b="1"/>
              <a:t>Dimension reduction</a:t>
            </a:r>
            <a:r>
              <a:rPr/>
              <a:t>:</a:t>
            </a:r>
          </a:p>
          <a:p>
            <a:pPr lvl="1"/>
            <a:r>
              <a:rPr/>
              <a:t>Start with 10 correlated variables</a:t>
            </a:r>
          </a:p>
          <a:p>
            <a:pPr lvl="1"/>
            <a:r>
              <a:rPr/>
              <a:t>End with 2-3 uncorrelated components</a:t>
            </a:r>
          </a:p>
          <a:p>
            <a:pPr lvl="1"/>
            <a:r>
              <a:rPr/>
              <a:t>Retain most information with fewer dimensions</a:t>
            </a:r>
          </a:p>
          <a:p>
            <a:pPr lvl="0"/>
            <a:r>
              <a:rPr b="1"/>
              <a:t>Easier interpretation</a:t>
            </a:r>
            <a:r>
              <a:rPr/>
              <a:t>:</a:t>
            </a:r>
          </a:p>
          <a:p>
            <a:pPr lvl="1"/>
            <a:r>
              <a:rPr/>
              <a:t>PC1 might represent “overall size”</a:t>
            </a:r>
          </a:p>
          <a:p>
            <a:pPr lvl="1"/>
            <a:r>
              <a:rPr/>
              <a:t>PC2 might represent “shape”</a:t>
            </a:r>
          </a:p>
          <a:p>
            <a:pPr lvl="1"/>
            <a:r>
              <a:rPr/>
              <a:t>Components often have biological meaning</a:t>
            </a:r>
          </a:p>
          <a:p>
            <a:pPr lvl="0"/>
            <a:r>
              <a:rPr b="1"/>
              <a:t>Better for analysis</a:t>
            </a:r>
            <a:r>
              <a:rPr/>
              <a:t>:</a:t>
            </a:r>
          </a:p>
          <a:p>
            <a:pPr lvl="1"/>
            <a:r>
              <a:rPr/>
              <a:t>Can use in regression, ANOVA</a:t>
            </a:r>
          </a:p>
          <a:p>
            <a:pPr lvl="1"/>
            <a:r>
              <a:rPr/>
              <a:t>No multicollinearity problems</a:t>
            </a:r>
          </a:p>
          <a:p>
            <a:pPr lvl="1"/>
            <a:r>
              <a:rPr/>
              <a:t>Variables are standardized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Performing 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Run the Analysis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PCA using prcomp()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center = TRUE: center variables (mean = 0)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scale. = TRUE: scale variables (sd = 1)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pca_result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(darl_numeric,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center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What's in the result?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(pca_result)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[1] "sdev"     "rotation" "center"   "scale"    "x"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Importance of components:
##                           PC1    PC2    PC3     PC4     PC5     PC6     PC7
## Standard deviation     2.2332 1.3288 1.2354 0.75701 0.59301 0.51062 0.46177
## Proportion of Variance 0.4987 0.1766 0.1526 0.05731 0.03517 0.02607 0.02132
## Cumulative Proportion  0.4987 0.6753 0.8279 0.88521 0.92038 0.94645 0.96777
##                           PC8     PC9    PC10
## Standard deviation     0.3768 0.33982 0.25457
## Proportion of Variance 0.0142 0.01155 0.00648
## Cumulative Proportion  0.9820 0.99352 1.00000</a:t>
            </a:r>
          </a:p>
          <a:p>
            <a:pPr lvl="0"/>
            <a:r>
              <a:rPr b="1"/>
              <a:t>Output components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sdev</a:t>
            </a:r>
            <a:r>
              <a:rPr/>
              <a:t>: standard deviations of each PC (square root of eigenvalues)</a:t>
            </a:r>
          </a:p>
          <a:p>
            <a:pPr lvl="0"/>
            <a:r>
              <a:rPr>
                <a:latin typeface="Courier"/>
              </a:rPr>
              <a:t>rotation</a:t>
            </a:r>
            <a:r>
              <a:rPr/>
              <a:t>: loadings matrix (how variables load on PCs)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: PC scores for each observation</a:t>
            </a:r>
          </a:p>
          <a:p>
            <a:pPr lvl="0"/>
            <a:r>
              <a:rPr>
                <a:latin typeface="Courier"/>
              </a:rPr>
              <a:t>center</a:t>
            </a:r>
            <a:r>
              <a:rPr/>
              <a:t>: variable means</a:t>
            </a:r>
          </a:p>
          <a:p>
            <a:pPr lvl="0"/>
            <a:r>
              <a:rPr>
                <a:latin typeface="Courier"/>
              </a:rPr>
              <a:t>scale</a:t>
            </a:r>
            <a:r>
              <a:rPr/>
              <a:t>: variable standard deviations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Eigenvalues and Variance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How Much Variance Does Each PC Explain?</a:t>
                </a:r>
              </a:p>
              <a:p>
                <a:pPr lvl="0"/>
                <a:r>
                  <a:rPr b="1"/>
                  <a:t>Eigenvalues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) measure variance explained by each component.</a:t>
                </a:r>
              </a:p>
              <a:p>
                <a:pPr lvl="0"/>
                <a:r>
                  <a:rPr/>
                  <a:t>The proportion of variance for PC </a:t>
                </a:r>
                <a:r>
                  <a:rPr i="1"/>
                  <a:t>j</a:t>
                </a:r>
                <a:r>
                  <a:rPr/>
                  <a:t>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m:t>λ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</a:p>
              <a:p>
                <a:pPr lvl="0"/>
                <a:r>
                  <a:rPr b="1"/>
                  <a:t>In practice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PC1 always explains the most variance</a:t>
                </a:r>
              </a:p>
              <a:p>
                <a:pPr lvl="1"/>
                <a:r>
                  <a:rPr/>
                  <a:t>We want the first few PCs to explain most (&gt;70%) of total variance</a:t>
                </a:r>
              </a:p>
              <a:p>
                <a:pPr lvl="1"/>
                <a:r>
                  <a:rPr/>
                  <a:t>allows dimension reduction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4
##    PC    Eigenvalue Proportion Cumulative
##    &lt;chr&gt;      &lt;dbl&gt;      &lt;dbl&gt;      &lt;dbl&gt;
##  1 PC1        4.99       0.499      0.499
##  2 PC2        1.77       0.177      0.675
##  3 PC3        1.53       0.153      0.828
##  4 PC4        0.573      0.057      0.885
##  5 PC5        0.352      0.035      0.92 
##  6 PC6        0.261      0.026      0.946
##  7 PC7        0.213      0.021      0.968
##  8 PC8        0.142      0.014      0.982
##  9 PC9        0.115      0.012      0.994
## 10 PC10       0.065      0.006      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Scree Plot: Choosing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Many Components to Use?</a:t>
            </a:r>
          </a:p>
          <a:p>
            <a:pPr lvl="0"/>
            <a:r>
              <a:rPr/>
              <a:t>A </a:t>
            </a:r>
            <a:r>
              <a:rPr b="1"/>
              <a:t>scree plot</a:t>
            </a:r>
            <a:r>
              <a:rPr/>
              <a:t> shows variance explained by each component.</a:t>
            </a:r>
          </a:p>
          <a:p>
            <a:pPr lvl="0"/>
            <a:r>
              <a:rPr b="1"/>
              <a:t>How to read it</a:t>
            </a:r>
            <a:r>
              <a:rPr/>
              <a:t>:</a:t>
            </a:r>
          </a:p>
          <a:p>
            <a:pPr lvl="1"/>
            <a:r>
              <a:rPr/>
              <a:t>Look for an “elbow” - sharp change in slope</a:t>
            </a:r>
          </a:p>
          <a:p>
            <a:pPr lvl="1"/>
            <a:r>
              <a:rPr/>
              <a:t>Keep components before the elbow</a:t>
            </a:r>
          </a:p>
          <a:p>
            <a:pPr lvl="1"/>
            <a:r>
              <a:rPr/>
              <a:t>Discard components in the “scree” (rubble)</a:t>
            </a:r>
          </a:p>
          <a:p>
            <a:pPr lvl="0"/>
            <a:r>
              <a:rPr b="1"/>
              <a:t>In this data</a:t>
            </a:r>
            <a:r>
              <a:rPr/>
              <a:t>:</a:t>
            </a:r>
          </a:p>
          <a:p>
            <a:pPr lvl="1"/>
            <a:r>
              <a:rPr/>
              <a:t>PC1 explains 49.9% of variance</a:t>
            </a:r>
          </a:p>
          <a:p>
            <a:pPr lvl="1"/>
            <a:r>
              <a:rPr/>
              <a:t>PC2 explains 17.7%</a:t>
            </a:r>
          </a:p>
          <a:p>
            <a:pPr lvl="1"/>
            <a:r>
              <a:rPr/>
              <a:t>PC3 explains 15.3%</a:t>
            </a:r>
          </a:p>
          <a:p>
            <a:pPr lvl="1"/>
            <a:r>
              <a:rPr b="1"/>
              <a:t>First 3 PCs explain 77.3% of variance</a:t>
            </a:r>
          </a:p>
          <a:p>
            <a:pPr lvl="0"/>
            <a:r>
              <a:rPr b="1"/>
              <a:t>Decision</a:t>
            </a:r>
            <a:r>
              <a:rPr/>
              <a:t>: Use PC1, PC2, and PC3 for interpretation.</a:t>
            </a:r>
          </a:p>
          <a:p>
            <a:pPr lvl="0"/>
            <a:r>
              <a:rPr/>
              <a:t>remaining 7 components explain 17.1% (mostly noise).</a:t>
            </a:r>
          </a:p>
        </p:txBody>
      </p:sp>
      <p:pic>
        <p:nvPicPr>
          <p:cNvPr descr="16_lecture_powerpoint_files/figure-pptx/scree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Loadings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Loadings?</a:t>
                </a:r>
              </a:p>
              <a:p>
                <a:pPr lvl="0"/>
                <a:r>
                  <a:rPr b="1"/>
                  <a:t>Loadings</a:t>
                </a:r>
                <a:r>
                  <a:rPr/>
                  <a:t> are the weights (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) that show how each original variable contributes to each principal component.</a:t>
                </a:r>
              </a:p>
              <a:p>
                <a:pPr lvl="0"/>
                <a:r>
                  <a:rPr b="1"/>
                  <a:t>For PC1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  <m:r>
                          <m:t>p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Interpreting loadings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Large positive loading</a:t>
                </a:r>
                <a:r>
                  <a:rPr/>
                  <a:t>: variable increases with PC</a:t>
                </a:r>
              </a:p>
              <a:p>
                <a:pPr lvl="1"/>
                <a:r>
                  <a:rPr b="1"/>
                  <a:t>Large negative loading</a:t>
                </a:r>
                <a:r>
                  <a:rPr/>
                  <a:t>: variable decreases with PC</a:t>
                </a:r>
              </a:p>
              <a:p>
                <a:pPr lvl="1"/>
                <a:r>
                  <a:rPr b="1"/>
                  <a:t>Near-zero loading</a:t>
                </a:r>
                <a:r>
                  <a:rPr/>
                  <a:t>: variable unimportant for PC</a:t>
                </a:r>
              </a:p>
              <a:p>
                <a:pPr lvl="0"/>
                <a:r>
                  <a:rPr b="1"/>
                  <a:t>Guidelines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Loadings &gt; 0.3 or &lt; -0.3 are worth considering</a:t>
                </a:r>
              </a:p>
              <a:p>
                <a:pPr lvl="1"/>
                <a:r>
                  <a:rPr/>
                  <a:t>Loadings &gt; 0.5 or &lt; -0.5 are important</a:t>
                </a:r>
              </a:p>
              <a:p>
                <a:pPr lvl="1"/>
                <a:r>
                  <a:rPr/>
                  <a:t>Sign (+ or -) can flip; patterns matter more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PC1 loadings</a:t>
            </a:r>
            <a:r>
              <a:rPr/>
              <a:t>:</a:t>
            </a:r>
          </a:p>
          <a:p>
            <a:pPr lvl="1"/>
            <a:r>
              <a:rPr/>
              <a:t>Most variables have similar positive values</a:t>
            </a:r>
          </a:p>
          <a:p>
            <a:pPr lvl="1"/>
            <a:r>
              <a:rPr/>
              <a:t>All ~0.31 to 0.40 except keel (-0.18) and tube (-0.002)</a:t>
            </a:r>
          </a:p>
          <a:p>
            <a:pPr lvl="1"/>
            <a:r>
              <a:rPr/>
              <a:t>Suggests PC1 measures “overall size”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PC1    PC2    PC3
## height       -0.278 -0.449  0.198
## mouth_diam   -0.369 -0.110  0.214
## tube_diam     0.040 -0.602 -0.390
## keel_diam     0.202 -0.491 -0.328
## wing1_length -0.375  0.171 -0.280
## wing2_length -0.342  0.131 -0.415
## wingsprea    -0.239  0.156 -0.549
## hoodmass_g   -0.385 -0.057  0.185
## tubemass_g   -0.355 -0.320  0.263
## wingmass_g   -0.393  0.080 -0.007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PC1: Overall Size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PC1 Interpretation - Looking at PC1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Most variables load positively and similarly: - Height: 0.310 - Mouth diameter: 0.400</a:t>
            </a:r>
          </a:p>
          <a:p>
            <a:pPr lvl="1"/>
            <a:r>
              <a:rPr/>
              <a:t>Wing lengths: 0.386, 0.372</a:t>
            </a:r>
          </a:p>
          <a:p>
            <a:pPr lvl="1"/>
            <a:r>
              <a:rPr/>
              <a:t>Wing spread: 0.256</a:t>
            </a:r>
          </a:p>
          <a:p>
            <a:pPr lvl="1"/>
            <a:r>
              <a:rPr/>
              <a:t>Biomass: 0.397, 0.380, 0.230</a:t>
            </a:r>
          </a:p>
          <a:p>
            <a:pPr lvl="0"/>
            <a:r>
              <a:rPr b="1"/>
              <a:t>Exception</a:t>
            </a:r>
            <a:r>
              <a:rPr/>
              <a:t>: Keel diameter (-0.177) and tube diameter (~0)</a:t>
            </a:r>
          </a:p>
          <a:p>
            <a:pPr lvl="0"/>
            <a:r>
              <a:rPr b="1"/>
              <a:t>Biological meaning</a:t>
            </a:r>
            <a:r>
              <a:rPr/>
              <a:t>: PC1 represents </a:t>
            </a:r>
            <a:r>
              <a:rPr b="1"/>
              <a:t>overall plant size</a:t>
            </a:r>
          </a:p>
          <a:p>
            <a:pPr lvl="1"/>
            <a:r>
              <a:rPr/>
              <a:t>most measurements scale together (bigger plants have bigger everything).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wingmass_g   -0.393 
##  2 hoodmass_g   -0.385 
##  3 wing1_length -0.375 
##  4 mouth_diam   -0.369 
##  5 tubemass_g   -0.355 
##  6 wing2_length -0.342 
##  7 height       -0.278 
##  8 wingsprea    -0.239 
##  9 keel_diam     0.202 
## 10 tube_diam     0.0402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PC1 → large plants</a:t>
            </a:r>
          </a:p>
          <a:p>
            <a:pPr lvl="0"/>
            <a:r>
              <a:rPr/>
              <a:t>Low PC1 → small plants</a:t>
            </a:r>
          </a:p>
        </p:txBody>
      </p:sp>
      <p:pic>
        <p:nvPicPr>
          <p:cNvPr descr="16_lecture_powerpoint_files/figure-pptx/pc1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1000" y="1295400"/>
            <a:ext cx="26162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PC2: Shape Contrast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PC2 Interpretation</a:t>
            </a:r>
          </a:p>
          <a:p>
            <a:pPr lvl="0"/>
            <a:r>
              <a:rPr/>
              <a:t>Looking at PC2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1"/>
            <a:r>
              <a:rPr/>
              <a:t>Height: -0.419 (negative, moderate)</a:t>
            </a:r>
          </a:p>
          <a:p>
            <a:pPr lvl="1"/>
            <a:r>
              <a:rPr/>
              <a:t>Mouth: -0.250 (negative, moderate)</a:t>
            </a:r>
          </a:p>
          <a:p>
            <a:pPr lvl="1"/>
            <a:r>
              <a:rPr/>
              <a:t>Wing measurements: positive (0.275-0.434)</a:t>
            </a:r>
          </a:p>
          <a:p>
            <a:pPr lvl="1"/>
            <a:r>
              <a:rPr/>
              <a:t>Wing spread: 0.434 (positive, strong)</a:t>
            </a:r>
          </a:p>
          <a:p>
            <a:pPr lvl="1"/>
            <a:r>
              <a:rPr/>
              <a:t>Biomass: mostly negative</a:t>
            </a:r>
          </a:p>
          <a:p>
            <a:pPr lvl="0"/>
            <a:r>
              <a:rPr b="1"/>
              <a:t>Biological meaning</a:t>
            </a:r>
            <a:r>
              <a:rPr/>
              <a:t>: PC2 represents </a:t>
            </a:r>
            <a:r>
              <a:rPr b="1"/>
              <a:t>shape trade-offs</a:t>
            </a:r>
          </a:p>
          <a:p>
            <a:pPr lvl="1"/>
            <a:r>
              <a:rPr/>
              <a:t>tall narrow pitchers vs. short wide pitchers with large wings.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tube_diam    -0.602 
##  2 keel_diam    -0.491 
##  3 height       -0.449 
##  4 tubemass_g   -0.320 
##  5 wing1_length  0.171 
##  6 wingsprea     0.156 
##  7 wing2_length  0.131 
##  8 mouth_diam   -0.110 
##  9 wingmass_g    0.0800
## 10 hoodmass_g   -0.0575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PC2 → short plants with large wings</a:t>
            </a:r>
          </a:p>
          <a:p>
            <a:pPr lvl="0"/>
            <a:r>
              <a:rPr/>
              <a:t>Low PC2 → tall narrow plants</a:t>
            </a:r>
          </a:p>
        </p:txBody>
      </p:sp>
      <p:pic>
        <p:nvPicPr>
          <p:cNvPr descr="16_lecture_powerpoint_files/figure-pptx/pc2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PC3 Interpretation</a:t>
            </a:r>
          </a:p>
          <a:p>
            <a:pPr lvl="0"/>
            <a:r>
              <a:rPr/>
              <a:t>Looking at PC3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Dominated by:</a:t>
            </a:r>
          </a:p>
          <a:p>
            <a:pPr lvl="1"/>
            <a:r>
              <a:rPr/>
              <a:t>Tube diameter: 0.743 (very strong positive)</a:t>
            </a:r>
          </a:p>
          <a:p>
            <a:pPr lvl="1"/>
            <a:r>
              <a:rPr/>
              <a:t>Keel diameter: 0.576 (strong positive)</a:t>
            </a:r>
          </a:p>
          <a:p>
            <a:pPr lvl="1"/>
            <a:r>
              <a:rPr/>
              <a:t>Most other variables near zero</a:t>
            </a:r>
          </a:p>
          <a:p>
            <a:pPr lvl="0"/>
            <a:r>
              <a:rPr b="1"/>
              <a:t>Biological meaning</a:t>
            </a:r>
            <a:r>
              <a:rPr/>
              <a:t>: PC3 represents </a:t>
            </a:r>
            <a:r>
              <a:rPr b="1"/>
              <a:t>tube girth</a:t>
            </a:r>
          </a:p>
          <a:p>
            <a:pPr lvl="1"/>
            <a:r>
              <a:rPr/>
              <a:t>width/diameter of tube structure independent of height or wing size.</a:t>
            </a:r>
          </a:p>
          <a:p>
            <a:pPr lvl="1"/>
            <a:r>
              <a:rPr/>
              <a:t>Plants with high PC3 scores = </a:t>
            </a:r>
            <a:r>
              <a:rPr b="1"/>
              <a:t>fat tubes</a:t>
            </a:r>
            <a:r>
              <a:rPr/>
              <a:t>, allowing to trap larger prey?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 Loading
##    &lt;chr&gt;           &lt;dbl&gt;
##  1 wingsprea    -0.549  
##  2 wing2_length -0.415  
##  3 tube_diam    -0.390  
##  4 keel_diam    -0.328  
##  5 wing1_length -0.280  
##  6 tubemass_g    0.263  
##  7 mouth_diam    0.214  
##  8 height        0.198  
##  9 hoodmass_g    0.185  
## 10 wingmass_g   -0.00743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PC3 → fat tubes</a:t>
            </a:r>
          </a:p>
          <a:p>
            <a:pPr lvl="0"/>
            <a:r>
              <a:rPr/>
              <a:t>Low PC3 → skinny tubes</a:t>
            </a:r>
          </a:p>
        </p:txBody>
      </p:sp>
      <p:pic>
        <p:nvPicPr>
          <p:cNvPr descr="16_lecture_powerpoint_files/figure-pptx/pc3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PC Scores?</a:t>
                </a:r>
              </a:p>
              <a:p>
                <a:pPr lvl="0"/>
                <a:r>
                  <a:rPr b="1"/>
                  <a:t>PC scores</a:t>
                </a:r>
                <a:r>
                  <a:rPr/>
                  <a:t> are values of each principal component for each obs./plant</a:t>
                </a:r>
              </a:p>
              <a:p>
                <a:pPr lvl="0"/>
                <a:r>
                  <a:rPr/>
                  <a:t>Each plant gets a score on each PC:</a:t>
                </a:r>
              </a:p>
              <a:p>
                <a:pPr lvl="1"/>
                <a:r>
                  <a:rPr/>
                  <a:t>PC1 score = measure of size</a:t>
                </a:r>
              </a:p>
              <a:p>
                <a:pPr lvl="1"/>
                <a:r>
                  <a:rPr/>
                  <a:t>PC2 score = measure of shape</a:t>
                </a:r>
              </a:p>
              <a:p>
                <a:pPr lvl="1"/>
                <a:r>
                  <a:rPr/>
                  <a:t>PC3 score = measure of tube girth</a:t>
                </a:r>
              </a:p>
              <a:p>
                <a:pPr lvl="0"/>
                <a:r>
                  <a:rPr b="1"/>
                  <a:t>How they’re calculated</a:t>
                </a:r>
                <a:r>
                  <a:rPr/>
                  <a:t>:</a:t>
                </a:r>
              </a:p>
              <a:p>
                <a:pPr lvl="0"/>
                <a:r>
                  <a:rPr/>
                  <a:t>For plant </a:t>
                </a:r>
                <a:r>
                  <a:rPr i="1"/>
                  <a:t>i</a:t>
                </a:r>
                <a:r>
                  <a:rPr/>
                  <a:t> on PC1: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PC1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0.31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g</m:t>
                    </m:r>
                    <m:r>
                      <m:t>h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0.40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m</m:t>
                    </m:r>
                    <m:r>
                      <m:t>o</m:t>
                    </m:r>
                    <m:r>
                      <m:t>u</m:t>
                    </m:r>
                    <m:r>
                      <m:t>t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a:p>
              <a:p>
                <a:pPr lvl="1"/>
                <a:r>
                  <a:rPr/>
                  <a:t>Using the standardized values and loadings we saw earlier.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5
##    plant_id site     PC1     PC2    PC3
##       &lt;int&gt; &lt;chr&gt;  &lt;dbl&gt;   &lt;dbl&gt;  &lt;dbl&gt;
##  1        1 TJH   -1.92   0.0772  1.53 
##  2        2 TJH    3.35   1.53    0.755
##  3        3 TJH    0.918 -0.0320  0.248
##  4        4 TJH   -0.983  0.236  -0.242
##  5        5 TJH    1.15  -1.02    1.54 
##  6        6 TJH   -1.37  -0.613   0.847
##  7        7 TJH   -1.50  -1.63    0.693
##  8        8 TJH   -0.651  0.121  -0.412
##  9        9 TJH    2.48  -0.0786 -0.260
## 10       10 TJH   -1.11  -1.27    2.27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PCA Results: Scores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Ordination of Sites</a:t>
            </a:r>
          </a:p>
          <a:p>
            <a:pPr lvl="0"/>
            <a:r>
              <a:rPr/>
              <a:t>We can plot PC scores to visualize:</a:t>
            </a:r>
          </a:p>
          <a:p>
            <a:pPr lvl="1"/>
            <a:r>
              <a:rPr/>
              <a:t>How plants are distributed in PC space</a:t>
            </a:r>
          </a:p>
          <a:p>
            <a:pPr lvl="1"/>
            <a:r>
              <a:rPr/>
              <a:t>Whether sites differ in morphology</a:t>
            </a:r>
          </a:p>
          <a:p>
            <a:pPr lvl="1"/>
            <a:r>
              <a:rPr/>
              <a:t>Patterns and groupings</a:t>
            </a:r>
          </a:p>
          <a:p>
            <a:pPr lvl="0"/>
            <a:r>
              <a:rPr b="1"/>
              <a:t>In this plot</a:t>
            </a:r>
            <a:r>
              <a:rPr/>
              <a:t>:</a:t>
            </a:r>
          </a:p>
          <a:p>
            <a:pPr lvl="1"/>
            <a:r>
              <a:rPr/>
              <a:t>Each point = one plant</a:t>
            </a:r>
          </a:p>
          <a:p>
            <a:pPr lvl="1"/>
            <a:r>
              <a:rPr/>
              <a:t>Position determined by PC1 and PC2 scores</a:t>
            </a:r>
          </a:p>
          <a:p>
            <a:pPr lvl="1"/>
            <a:r>
              <a:rPr/>
              <a:t>Colors indicate collection site</a:t>
            </a:r>
          </a:p>
          <a:p>
            <a:pPr lvl="0"/>
            <a:r>
              <a:rPr b="1"/>
              <a:t>Observations</a:t>
            </a:r>
            <a:r>
              <a:rPr/>
              <a:t>:</a:t>
            </a:r>
          </a:p>
          <a:p>
            <a:pPr lvl="1"/>
            <a:r>
              <a:rPr/>
              <a:t>Sites show some separation</a:t>
            </a:r>
          </a:p>
          <a:p>
            <a:pPr lvl="1"/>
            <a:r>
              <a:rPr/>
              <a:t>HD (orange) plants have lower PC1 (smaller)</a:t>
            </a:r>
          </a:p>
          <a:p>
            <a:pPr lvl="1"/>
            <a:r>
              <a:rPr/>
              <a:t>TJH (pink) plants variable but lower PC2</a:t>
            </a:r>
          </a:p>
          <a:p>
            <a:pPr lvl="1"/>
            <a:r>
              <a:rPr/>
              <a:t>Some overlap among sites</a:t>
            </a:r>
          </a:p>
          <a:p>
            <a:pPr lvl="0"/>
            <a:r>
              <a:rPr/>
              <a:t>This is called </a:t>
            </a:r>
            <a:r>
              <a:rPr b="1"/>
              <a:t>ordination</a:t>
            </a:r>
            <a:r>
              <a:rPr/>
              <a:t> - ordering objects along axes.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ordination</a:t>
            </a:r>
          </a:p>
        </p:txBody>
      </p:sp>
      <p:pic>
        <p:nvPicPr>
          <p:cNvPr descr="16_lecture_powerpoint_files/figure-pptx/scores_plot_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visualization of PCA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Biplot: Combining Scores and Loadings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a Biplot</a:t>
            </a:r>
          </a:p>
          <a:p>
            <a:pPr lvl="0"/>
            <a:r>
              <a:rPr/>
              <a:t>A </a:t>
            </a:r>
            <a:r>
              <a:rPr b="1"/>
              <a:t>biplot</a:t>
            </a:r>
            <a:r>
              <a:rPr/>
              <a:t> shows both:</a:t>
            </a:r>
          </a:p>
          <a:p>
            <a:pPr lvl="1"/>
            <a:r>
              <a:rPr b="1"/>
              <a:t>Points</a:t>
            </a:r>
            <a:r>
              <a:rPr/>
              <a:t> = plants (PC scores)</a:t>
            </a:r>
          </a:p>
          <a:p>
            <a:pPr lvl="1"/>
            <a:r>
              <a:rPr b="1"/>
              <a:t>Arrows</a:t>
            </a:r>
            <a:r>
              <a:rPr/>
              <a:t> = original variables (loadings)</a:t>
            </a:r>
          </a:p>
          <a:p>
            <a:pPr lvl="0"/>
            <a:r>
              <a:rPr b="1"/>
              <a:t>How to interpret arrows</a:t>
            </a:r>
            <a:r>
              <a:rPr/>
              <a:t>:</a:t>
            </a:r>
          </a:p>
          <a:p>
            <a:pPr lvl="0"/>
            <a:r>
              <a:rPr b="1"/>
              <a:t>Length</a:t>
            </a:r>
            <a:r>
              <a:rPr/>
              <a:t> = how important the variable is</a:t>
            </a:r>
          </a:p>
          <a:p>
            <a:pPr lvl="0"/>
            <a:r>
              <a:rPr b="1"/>
              <a:t>Direction</a:t>
            </a:r>
            <a:r>
              <a:rPr/>
              <a:t> = how the variable relates to PCs</a:t>
            </a:r>
          </a:p>
          <a:p>
            <a:pPr lvl="0"/>
            <a:r>
              <a:rPr b="1"/>
              <a:t>Angle between arrows</a:t>
            </a:r>
            <a:r>
              <a:rPr/>
              <a:t> = correlation</a:t>
            </a:r>
          </a:p>
          <a:p>
            <a:pPr lvl="1"/>
            <a:r>
              <a:rPr/>
              <a:t>Small angle = positively correlated</a:t>
            </a:r>
          </a:p>
          <a:p>
            <a:pPr lvl="1"/>
            <a:r>
              <a:rPr/>
              <a:t>90° = uncorrelated</a:t>
            </a:r>
          </a:p>
          <a:p>
            <a:pPr lvl="1"/>
            <a:r>
              <a:rPr/>
              <a:t>180° = negatively correlated</a:t>
            </a:r>
          </a:p>
          <a:p>
            <a:pPr lvl="0"/>
            <a:r>
              <a:rPr b="1"/>
              <a:t>How to interpret points</a:t>
            </a:r>
            <a:r>
              <a:rPr/>
              <a:t>:</a:t>
            </a:r>
          </a:p>
          <a:p>
            <a:pPr lvl="1"/>
            <a:r>
              <a:rPr/>
              <a:t>Plants in the direction of an arrow are high in that variable</a:t>
            </a:r>
          </a:p>
          <a:p>
            <a:pPr lvl="1"/>
            <a:r>
              <a:rPr/>
              <a:t>Plants opposite an arrow are low in that variable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plot</a:t>
            </a:r>
          </a:p>
        </p:txBody>
      </p:sp>
      <p:pic>
        <p:nvPicPr>
          <p:cNvPr descr="16_lecture_powerpoint_files/figure-pptx/bi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Biplot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Patterns in the Biplot</a:t>
            </a:r>
          </a:p>
          <a:p>
            <a:pPr lvl="0"/>
            <a:r>
              <a:rPr b="1"/>
              <a:t>Variable relationships</a:t>
            </a:r>
            <a:r>
              <a:rPr/>
              <a:t>:</a:t>
            </a:r>
          </a:p>
          <a:p>
            <a:pPr lvl="1"/>
            <a:r>
              <a:rPr/>
              <a:t>Most morphological and biomass variables point together (right and slightly down):</a:t>
            </a:r>
          </a:p>
          <a:p>
            <a:pPr lvl="2"/>
            <a:r>
              <a:rPr/>
              <a:t>Height, mouth, masses - These are highly correlated</a:t>
            </a:r>
          </a:p>
          <a:p>
            <a:pPr lvl="2"/>
            <a:r>
              <a:rPr/>
              <a:t>All contribute to PC1 (size)</a:t>
            </a:r>
          </a:p>
          <a:p>
            <a:pPr lvl="0"/>
            <a:r>
              <a:rPr/>
              <a:t>Wing variables (wing1_length, wing2_length, wingspread) point more upward:</a:t>
            </a:r>
          </a:p>
          <a:p>
            <a:pPr lvl="1"/>
            <a:r>
              <a:rPr/>
              <a:t>Contribute positively to PC2</a:t>
            </a:r>
          </a:p>
          <a:p>
            <a:pPr lvl="2"/>
            <a:r>
              <a:rPr/>
              <a:t>Represent the “wing dimension” of shape</a:t>
            </a:r>
          </a:p>
          <a:p>
            <a:pPr lvl="0"/>
            <a:r>
              <a:rPr b="1"/>
              <a:t>Site separation</a:t>
            </a:r>
            <a:r>
              <a:rPr/>
              <a:t>:</a:t>
            </a:r>
          </a:p>
          <a:p>
            <a:pPr lvl="1"/>
            <a:r>
              <a:rPr b="1"/>
              <a:t>HD (blue)</a:t>
            </a:r>
            <a:r>
              <a:rPr/>
              <a:t>: Lower PC1, plants are smaller overall</a:t>
            </a:r>
          </a:p>
          <a:p>
            <a:pPr lvl="1"/>
            <a:r>
              <a:rPr b="1"/>
              <a:t>DG (orange)</a:t>
            </a:r>
            <a:r>
              <a:rPr/>
              <a:t>: Higher PC1, plants are larger</a:t>
            </a:r>
          </a:p>
          <a:p>
            <a:pPr lvl="1"/>
            <a:r>
              <a:rPr b="1"/>
              <a:t>TJH (yellow)</a:t>
            </a:r>
            <a:r>
              <a:rPr/>
              <a:t> and </a:t>
            </a:r>
            <a:r>
              <a:rPr b="1"/>
              <a:t>LEH (green)</a:t>
            </a:r>
            <a:r>
              <a:rPr/>
              <a:t>: Intermediate and variable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Biological Interpretation</a:t>
            </a:r>
          </a:p>
          <a:p>
            <a:pPr lvl="0"/>
            <a:r>
              <a:rPr b="1"/>
              <a:t>What determines plant morphology?</a:t>
            </a:r>
          </a:p>
          <a:p>
            <a:pPr lvl="1"/>
            <a:r>
              <a:rPr b="1"/>
              <a:t>Size</a:t>
            </a:r>
            <a:r>
              <a:rPr/>
              <a:t> (PC1, 45.8% variance)</a:t>
            </a:r>
          </a:p>
          <a:p>
            <a:pPr lvl="2"/>
            <a:r>
              <a:rPr/>
              <a:t>Primary source of variation</a:t>
            </a:r>
          </a:p>
          <a:p>
            <a:pPr lvl="2"/>
            <a:r>
              <a:rPr/>
              <a:t>Most measurements scale together</a:t>
            </a:r>
          </a:p>
          <a:p>
            <a:pPr lvl="2"/>
            <a:r>
              <a:rPr/>
              <a:t>May reflect resource availability or age</a:t>
            </a:r>
          </a:p>
          <a:p>
            <a:pPr lvl="1"/>
            <a:r>
              <a:rPr b="1"/>
              <a:t>Shape trade-offs</a:t>
            </a:r>
            <a:r>
              <a:rPr/>
              <a:t> (PC2, 16.7% variance)</a:t>
            </a:r>
          </a:p>
          <a:p>
            <a:pPr lvl="2"/>
            <a:r>
              <a:rPr/>
              <a:t>Tall narrow vs. short wide with large wings</a:t>
            </a:r>
          </a:p>
          <a:p>
            <a:pPr lvl="2"/>
            <a:r>
              <a:rPr/>
              <a:t>May reflect different trapping strategies</a:t>
            </a:r>
          </a:p>
          <a:p>
            <a:pPr lvl="2"/>
            <a:r>
              <a:rPr/>
              <a:t>Or developmental/environmental constraints</a:t>
            </a:r>
          </a:p>
          <a:p>
            <a:pPr lvl="1"/>
            <a:r>
              <a:rPr b="1"/>
              <a:t>Tube dimensions</a:t>
            </a:r>
            <a:r>
              <a:rPr/>
              <a:t> (PC3, 14.8% variance)</a:t>
            </a:r>
          </a:p>
          <a:p>
            <a:pPr lvl="2"/>
            <a:r>
              <a:rPr/>
              <a:t>Independent aspect of morphology</a:t>
            </a:r>
          </a:p>
          <a:p>
            <a:pPr lvl="2"/>
            <a:r>
              <a:rPr/>
              <a:t>May affect prey capture efficiency</a:t>
            </a:r>
          </a:p>
          <a:p>
            <a:pPr lvl="1"/>
            <a:r>
              <a:rPr b="1"/>
              <a:t>Sites differ</a:t>
            </a:r>
            <a:r>
              <a:rPr/>
              <a:t> primarily in overall size, with some shape variation.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Site Differences with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Statistical Analysis</a:t>
            </a:r>
          </a:p>
          <a:p>
            <a:pPr lvl="0"/>
            <a:r>
              <a:rPr/>
              <a:t>Now that we have PC scores, we can test if sites differ:</a:t>
            </a:r>
          </a:p>
          <a:p>
            <a:pPr lvl="1"/>
            <a:r>
              <a:rPr b="1"/>
              <a:t>Result</a:t>
            </a:r>
            <a:r>
              <a:rPr/>
              <a:t>: Sites differ significantly in PC1 (F = 9.26, P &lt; 0.001)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PC1 (size)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anova_pc1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(anova_pc1)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124.3   41.44   11.29 2.75e-06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304.6    3.67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means by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mean_PC1 sd_PC1     n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&lt;dbl&gt;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-1.02   1.38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2.63   0.857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-0.659  2.61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0.423  1.90     25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for PC2 and PC3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Shape and Tube Differences</a:t>
            </a:r>
          </a:p>
          <a:p>
            <a:pPr lvl="0"/>
            <a:r>
              <a:rPr b="1"/>
              <a:t>Results</a:t>
            </a:r>
            <a:r>
              <a:rPr/>
              <a:t>:</a:t>
            </a:r>
          </a:p>
          <a:p>
            <a:pPr lvl="1"/>
            <a:r>
              <a:rPr/>
              <a:t>PC2 (shape): F = 5.36, P = 0.002 (significant)</a:t>
            </a:r>
          </a:p>
          <a:p>
            <a:pPr lvl="2"/>
            <a:r>
              <a:rPr/>
              <a:t>PC3 (tube girth): F = 1.45, P = 0.234 (not significant)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PC2 (shape)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anova_pc2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(anova_pc2)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21.63   7.209   4.595 0.00502 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83 130.22   1.569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Test for site differences on PC3 (tube girth)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anova_pc3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(PC3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(anova_pc3)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43.68  14.561    13.8 2.2e-07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87.58   1.055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Summary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mean_PC2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(PC2),</a:t>
            </a:r>
            <a:r>
              <a:rPr>
                <a:solidFill>
                  <a:srgbClr val="657422"/>
                </a:solidFill>
                <a:latin typeface="Courier"/>
              </a:rPr>
              <a:t>mean_PC3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(PC3))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mean_PC2 mean_PC3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0.604  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-0.863  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0.155  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-0.345    0.618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Site Differences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Box Plots of PC Scores</a:t>
            </a:r>
          </a:p>
          <a:p>
            <a:pPr lvl="0" indent="0" marL="0">
              <a:buNone/>
            </a:pPr>
            <a:r>
              <a:rPr b="1"/>
              <a:t>HD plants are significantly smaller</a:t>
            </a:r>
            <a:r>
              <a:rPr/>
              <a:t> than plants at other sites.</a:t>
            </a:r>
          </a:p>
        </p:txBody>
      </p:sp>
      <p:pic>
        <p:nvPicPr>
          <p:cNvPr descr="16_lecture_powerpoint_files/figure-pptx/boxplots_pc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" y="1270000"/>
            <a:ext cx="39624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TJH plants have different shapes</a:t>
            </a:r>
          </a:p>
          <a:p>
            <a:pPr lvl="1"/>
            <a:r>
              <a:rPr/>
              <a:t>taller and narrower with smaller wings.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Post-hoc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Sites Differ?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estimate    SE df t.ratio p.value
##  DG - HD     -3.651 0.673 83  -5.427 &lt;0.0001
##  DG - LEH    -0.366 0.542 83  -0.675  0.9064
##  DG - TJH    -1.447 0.542 83  -2.671  0.0442
##  HD - LEH     3.285 0.673 83   4.883 &lt;0.0001
##  HD - TJH     2.204 0.673 83   3.276  0.0082
##  LEH - TJH   -1.082 0.542 83  -1.996  0.1977
## 
## P value adjustment: tukey method for comparing a family of 4 estimates
##  site emmean    SE df lower.CL upper.CL .group
##  DG   -1.024 0.383 83   -1.786   -0.262  a    
##  LEH  -0.659 0.383 83   -1.421    0.103  ab   
##  TJH   0.423 0.383 83   -0.339    1.185   b   
##  HD    2.626 0.553 83    1.526    3.726    c  
## 
## Confidence level used: 0.95 
## P value adjustment: tukey method for comparing a family of 4 estimates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Distance Between Sites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Calculating Euclidean Distance Between Groups</a:t>
                </a:r>
              </a:p>
              <a:p>
                <a:pPr lvl="0"/>
                <a:r>
                  <a:rPr/>
                  <a:t>Calculate the distance between site centroids (mean PC scores):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p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j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1"/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Z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mean of PC </a:t>
                </a:r>
                <a:r>
                  <a:rPr i="1"/>
                  <a:t>i</a:t>
                </a:r>
                <a:r>
                  <a:rPr/>
                  <a:t> for site </a:t>
                </a:r>
                <a:r>
                  <a:rPr i="1"/>
                  <a:t>k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Using all PCs</a:t>
                </a:r>
                <a:r>
                  <a:rPr/>
                  <a:t> preserves the true Euclidean distance from the original data.</a:t>
                </a:r>
              </a:p>
              <a:p>
                <a:pPr lvl="0"/>
                <a:r>
                  <a:rPr b="1"/>
                  <a:t>Using just PC1-PC3</a:t>
                </a:r>
                <a:r>
                  <a:rPr/>
                  <a:t> (77% of variance) gives approximate distances.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HD is most different</a:t>
            </a:r>
            <a:r>
              <a:rPr/>
              <a:t> from other sites (smallest plants).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site centroids (means)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site_means &lt;- 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(PC1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PC3, mean))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site_means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   PC1    PC2    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&lt;dbl&gt;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-1.02   0.604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2.63  -0.863 -1.26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-0.659  0.155 -0.555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0.423 -0.345  0.618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 &lt;- site_means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(PC1, PC2, PC3)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1     2    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4.328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1.241 3.511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1.732 2.942 1.672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the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1. Prepare PC Scores with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pc_scores_for_dist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(pca_result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darlingtonia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2. Calculate the mean PC scores for each site (the site "centroids")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 &lt;- pc_scores_for_dist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"PC"</a:t>
            </a:r>
            <a:r>
              <a:rPr>
                <a:solidFill>
                  <a:srgbClr val="003B4F"/>
                </a:solidFill>
                <a:latin typeface="Courier"/>
              </a:rPr>
              <a:t>), mean))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3. Set site names as row names BEFORE calculating distances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site_centroids_matrix &lt;- site_centroids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column_to_rownames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"site"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This keeps site names as row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4. Calculate the Euclidean distance matrix between site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 &lt;-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(site_centroids_matrix,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DG       HD      LEH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HD  4.346434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LEH 1.621198 3.659711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TJH 1.843120 3.021386 1.960547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Visualize the distance matrix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fviz_dist</a:t>
            </a:r>
            <a:r>
              <a:rPr>
                <a:solidFill>
                  <a:srgbClr val="003B4F"/>
                </a:solidFill>
                <a:latin typeface="Courier"/>
              </a:rPr>
              <a:t>(dist_matrix,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gradient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"#00AFBB"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"#FC4E07"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Summary: PCA Results for Darlingtonia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/>
            <a:r>
              <a:rPr/>
              <a:t>Dimension Reduction Success</a:t>
            </a:r>
          </a:p>
          <a:p>
            <a:pPr lvl="1"/>
            <a:r>
              <a:rPr/>
              <a:t>☒ </a:t>
            </a:r>
            <a:r>
              <a:rPr b="1"/>
              <a:t>Started with</a:t>
            </a:r>
            <a:r>
              <a:rPr/>
              <a:t>: 10 correlated variables</a:t>
            </a:r>
            <a:br/>
          </a:p>
          <a:p>
            <a:pPr lvl="1"/>
            <a:r>
              <a:rPr/>
              <a:t>☒ </a:t>
            </a:r>
            <a:r>
              <a:rPr b="1"/>
              <a:t>Reduced to</a:t>
            </a:r>
            <a:r>
              <a:rPr/>
              <a:t>: 3 principal components</a:t>
            </a:r>
            <a:br/>
          </a:p>
          <a:p>
            <a:pPr lvl="1"/>
            <a:r>
              <a:rPr/>
              <a:t>☒ </a:t>
            </a:r>
            <a:r>
              <a:rPr b="1"/>
              <a:t>Retained</a:t>
            </a:r>
            <a:r>
              <a:rPr/>
              <a:t>: 77.3% of variance</a:t>
            </a:r>
          </a:p>
          <a:p>
            <a:pPr lvl="0"/>
            <a:r>
              <a:rPr/>
              <a:t>This makes data </a:t>
            </a:r>
            <a:r>
              <a:rPr b="1"/>
              <a:t>easier to visualize, interpret, and analyze</a:t>
            </a:r>
            <a:r>
              <a:rPr/>
              <a:t>.</a:t>
            </a:r>
          </a:p>
          <a:p>
            <a:pPr lvl="0"/>
            <a:r>
              <a:rPr/>
              <a:t>Biological Insights - </a:t>
            </a:r>
            <a:r>
              <a:rPr b="1"/>
              <a:t>Three major axes of morphological variation</a:t>
            </a:r>
            <a:r>
              <a:rPr/>
              <a:t>: - </a:t>
            </a:r>
            <a:r>
              <a:rPr b="1"/>
              <a:t>PC1 (45.8%)</a:t>
            </a:r>
            <a:r>
              <a:rPr/>
              <a:t>: Overall size</a:t>
            </a:r>
          </a:p>
          <a:p>
            <a:pPr lvl="1"/>
            <a:r>
              <a:rPr/>
              <a:t>Larger vs. smaller plants</a:t>
            </a:r>
          </a:p>
          <a:p>
            <a:pPr lvl="1"/>
            <a:r>
              <a:rPr/>
              <a:t>HD site has smallest plants - </a:t>
            </a:r>
            <a:r>
              <a:rPr b="1"/>
              <a:t>PC2 (16.7%)</a:t>
            </a:r>
            <a:r>
              <a:rPr/>
              <a:t>: Shape contrast</a:t>
            </a:r>
          </a:p>
          <a:p>
            <a:pPr lvl="1"/>
            <a:r>
              <a:rPr/>
              <a:t>Tall/narrow vs. short/wide with large wings</a:t>
            </a:r>
          </a:p>
          <a:p>
            <a:pPr lvl="1"/>
            <a:r>
              <a:rPr/>
              <a:t>TJH site has taller, narrower plants - </a:t>
            </a:r>
            <a:r>
              <a:rPr b="1"/>
              <a:t>PC3 (14.8%)</a:t>
            </a:r>
            <a:r>
              <a:rPr/>
              <a:t>: Tube girth</a:t>
            </a:r>
          </a:p>
          <a:p>
            <a:pPr lvl="1"/>
            <a:r>
              <a:rPr/>
              <a:t>Fat vs. skinny tubes</a:t>
            </a:r>
          </a:p>
          <a:p>
            <a:pPr lvl="1"/>
            <a:r>
              <a:rPr/>
              <a:t>No significant site differences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Statistical Findings</a:t>
            </a:r>
          </a:p>
          <a:p>
            <a:pPr lvl="1"/>
            <a:r>
              <a:rPr b="1"/>
              <a:t>Sites differ significantly</a:t>
            </a:r>
            <a:r>
              <a:rPr/>
              <a:t> in size (PC1)</a:t>
            </a:r>
          </a:p>
          <a:p>
            <a:pPr lvl="1"/>
            <a:r>
              <a:rPr b="1"/>
              <a:t>Sites differ significantly</a:t>
            </a:r>
            <a:r>
              <a:rPr/>
              <a:t> in shape (PC2)</a:t>
            </a:r>
          </a:p>
          <a:p>
            <a:pPr lvl="1"/>
            <a:r>
              <a:rPr b="1"/>
              <a:t>Sites do not differ</a:t>
            </a:r>
            <a:r>
              <a:rPr/>
              <a:t> in tube girth (PC3)</a:t>
            </a:r>
          </a:p>
          <a:p>
            <a:pPr lvl="0"/>
            <a:r>
              <a:rPr/>
              <a:t>PCA Advantages</a:t>
            </a:r>
          </a:p>
          <a:p>
            <a:pPr lvl="1"/>
            <a:r>
              <a:rPr/>
              <a:t>☒ Reduced 10 dimensions to 3</a:t>
            </a:r>
            <a:br/>
          </a:p>
          <a:p>
            <a:pPr lvl="1"/>
            <a:r>
              <a:rPr/>
              <a:t>☒ Created uncorrelated variables</a:t>
            </a:r>
            <a:br/>
          </a:p>
          <a:p>
            <a:pPr lvl="1"/>
            <a:r>
              <a:rPr/>
              <a:t>☒ Revealed biological patterns</a:t>
            </a:r>
            <a:br/>
          </a:p>
          <a:p>
            <a:pPr lvl="1"/>
            <a:r>
              <a:rPr/>
              <a:t>☒ Enabled statistical testing</a:t>
            </a:r>
            <a:br/>
          </a:p>
          <a:p>
            <a:pPr lvl="1"/>
            <a:r>
              <a:rPr/>
              <a:t>☒ Simplified visualization</a:t>
            </a:r>
          </a:p>
          <a:p>
            <a:pPr lvl="0"/>
            <a:r>
              <a:rPr/>
              <a:t>Key Take-Home Messages</a:t>
            </a:r>
          </a:p>
          <a:p>
            <a:pPr lvl="1"/>
            <a:r>
              <a:rPr/>
              <a:t>PCA good for </a:t>
            </a:r>
            <a:r>
              <a:rPr b="1"/>
              <a:t>exploratory analysis</a:t>
            </a:r>
            <a:r>
              <a:rPr/>
              <a:t> of multivariate data</a:t>
            </a:r>
          </a:p>
          <a:p>
            <a:pPr lvl="1"/>
            <a:r>
              <a:rPr/>
              <a:t>Always </a:t>
            </a:r>
            <a:r>
              <a:rPr b="1"/>
              <a:t>standardize</a:t>
            </a:r>
            <a:r>
              <a:rPr/>
              <a:t> when different units/scales</a:t>
            </a:r>
          </a:p>
          <a:p>
            <a:pPr lvl="1"/>
            <a:r>
              <a:rPr b="1"/>
              <a:t>Loadings</a:t>
            </a:r>
            <a:r>
              <a:rPr/>
              <a:t> reveal variables contributions to each component</a:t>
            </a:r>
          </a:p>
          <a:p>
            <a:pPr lvl="1"/>
            <a:r>
              <a:rPr b="1"/>
              <a:t>Scores</a:t>
            </a:r>
            <a:r>
              <a:rPr/>
              <a:t> used in subsequent analyses (ANOVA, regression)</a:t>
            </a:r>
          </a:p>
          <a:p>
            <a:pPr lvl="1"/>
            <a:r>
              <a:rPr b="1"/>
              <a:t>Biplots</a:t>
            </a:r>
            <a:r>
              <a:rPr/>
              <a:t> visualize both samples and variables simultaneously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PCA is Appropriate When:</a:t>
            </a:r>
          </a:p>
          <a:p>
            <a:pPr lvl="1"/>
            <a:r>
              <a:rPr/>
              <a:t>☒ Variables are </a:t>
            </a:r>
            <a:r>
              <a:rPr b="1"/>
              <a:t>continuous</a:t>
            </a:r>
            <a:r>
              <a:rPr/>
              <a:t> (not categorical)</a:t>
            </a:r>
          </a:p>
          <a:p>
            <a:pPr lvl="1"/>
            <a:r>
              <a:rPr/>
              <a:t>☒ Variables are </a:t>
            </a:r>
            <a:r>
              <a:rPr b="1"/>
              <a:t>correlated</a:t>
            </a:r>
            <a:r>
              <a:rPr/>
              <a:t> (redundancy exists) + </a:t>
            </a:r>
            <a:r>
              <a:rPr b="1"/>
              <a:t>Linear relationships</a:t>
            </a:r>
          </a:p>
          <a:p>
            <a:pPr lvl="1"/>
            <a:r>
              <a:rPr/>
              <a:t>☒ Goal is </a:t>
            </a:r>
            <a:r>
              <a:rPr b="1"/>
              <a:t>dimension reduction</a:t>
            </a:r>
            <a:r>
              <a:rPr/>
              <a:t> or </a:t>
            </a:r>
            <a:r>
              <a:rPr b="1"/>
              <a:t>data exploration</a:t>
            </a:r>
          </a:p>
          <a:p>
            <a:pPr lvl="1"/>
            <a:r>
              <a:rPr/>
              <a:t>☒ </a:t>
            </a:r>
            <a:r>
              <a:rPr b="1"/>
              <a:t>Sample size</a:t>
            </a:r>
            <a:r>
              <a:rPr/>
              <a:t> adequate (at least 3× number of variables)</a:t>
            </a:r>
          </a:p>
          <a:p>
            <a:pPr lvl="0"/>
            <a:r>
              <a:rPr/>
              <a:t>PCA Assumptions:</a:t>
            </a:r>
          </a:p>
          <a:p>
            <a:pPr lvl="1"/>
            <a:r>
              <a:rPr b="1"/>
              <a:t>Linearity</a:t>
            </a:r>
            <a:r>
              <a:rPr/>
              <a:t>: relationships between variables are linear</a:t>
            </a:r>
          </a:p>
          <a:p>
            <a:pPr lvl="1"/>
            <a:r>
              <a:rPr b="1"/>
              <a:t>Adequate correlation</a:t>
            </a:r>
            <a:r>
              <a:rPr/>
              <a:t>: variables must be correlated</a:t>
            </a:r>
          </a:p>
          <a:p>
            <a:pPr lvl="1"/>
            <a:r>
              <a:rPr b="1"/>
              <a:t>No severe outliers</a:t>
            </a:r>
            <a:r>
              <a:rPr/>
              <a:t>: can distort results</a:t>
            </a:r>
          </a:p>
          <a:p>
            <a:pPr lvl="1"/>
            <a:r>
              <a:rPr b="1"/>
              <a:t>Sample size</a:t>
            </a:r>
            <a:r>
              <a:rPr/>
              <a:t>: need enough observations</a:t>
            </a:r>
          </a:p>
          <a:p>
            <a:pPr lvl="0"/>
            <a:r>
              <a:rPr/>
              <a:t>Always Check:</a:t>
            </a:r>
          </a:p>
          <a:p>
            <a:pPr lvl="1"/>
            <a:r>
              <a:rPr/>
              <a:t>Correlation matrix (are variables correlated?)</a:t>
            </a:r>
          </a:p>
          <a:p>
            <a:pPr lvl="1"/>
            <a:r>
              <a:rPr/>
              <a:t>Scree plot (how many components needed?)</a:t>
            </a:r>
          </a:p>
          <a:p>
            <a:pPr lvl="1"/>
            <a:r>
              <a:rPr/>
              <a:t>Loadings (biological interpretation makes sense?)</a:t>
            </a:r>
          </a:p>
          <a:p>
            <a:pPr lvl="1"/>
            <a:r>
              <a:rPr/>
              <a:t>Outliers (check scores plots)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</a:t>
            </a:r>
            <a:r>
              <a:rPr b="1"/>
              <a:t>Consider Alternatives: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Different data types</a:t>
            </a:r>
            <a:r>
              <a:rPr/>
              <a:t>:</a:t>
            </a:r>
          </a:p>
          <a:p>
            <a:pPr lvl="1"/>
            <a:r>
              <a:rPr/>
              <a:t>Categorical variables → MCA (Multiple</a:t>
            </a:r>
          </a:p>
          <a:p>
            <a:pPr lvl="1"/>
            <a:r>
              <a:rPr/>
              <a:t>Correspondence Analysis) - Species composition data → CA (Correspondence Analysis)</a:t>
            </a:r>
          </a:p>
          <a:p>
            <a:pPr lvl="1"/>
            <a:r>
              <a:rPr/>
              <a:t>Distance/dissimilarity matrices → PCoA (Principal Coordinates Analysis)</a:t>
            </a:r>
          </a:p>
          <a:p>
            <a:pPr lvl="0"/>
            <a:r>
              <a:rPr b="1"/>
              <a:t>Different goals</a:t>
            </a:r>
            <a:r>
              <a:rPr/>
              <a:t>: - Classification → Discriminant Analysis</a:t>
            </a:r>
          </a:p>
          <a:p>
            <a:pPr lvl="1"/>
            <a:r>
              <a:rPr/>
              <a:t>Non-linear patterns → NMDS (Non-metric Multidimensional Scaling)</a:t>
            </a:r>
          </a:p>
          <a:p>
            <a:pPr lvl="1"/>
            <a:r>
              <a:rPr/>
              <a:t>Hypothesis testing → MANOVA</a:t>
            </a:r>
          </a:p>
          <a:p>
            <a:pPr lvl="0"/>
            <a:r>
              <a:rPr b="1"/>
              <a:t>Problems with PCA</a:t>
            </a:r>
            <a:r>
              <a:rPr/>
              <a:t>:</a:t>
            </a:r>
          </a:p>
          <a:p>
            <a:pPr lvl="1"/>
            <a:r>
              <a:rPr/>
              <a:t>Strong outliers present</a:t>
            </a:r>
          </a:p>
          <a:p>
            <a:pPr lvl="1"/>
            <a:r>
              <a:rPr/>
              <a:t>Non-linear relationships</a:t>
            </a:r>
          </a:p>
          <a:p>
            <a:pPr lvl="1"/>
            <a:r>
              <a:rPr/>
              <a:t>Variables are uncorrelated</a:t>
            </a:r>
          </a:p>
          <a:p>
            <a:pPr lvl="1"/>
            <a:r>
              <a:rPr/>
              <a:t>Many zeros in data</a:t>
            </a:r>
          </a:p>
          <a:p>
            <a:pPr lvl="0"/>
            <a:r>
              <a:rPr b="1"/>
              <a:t>PCA works best</a:t>
            </a:r>
            <a:r>
              <a:rPr/>
              <a:t> for morphological, physiological, and environmental variables!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PCA Diagnostics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Checking Assumptions and Quality</a:t>
            </a:r>
          </a:p>
          <a:p>
            <a:pPr lvl="0" indent="-342900" marL="342900">
              <a:buAutoNum type="arabicPeriod"/>
            </a:pPr>
            <a:r>
              <a:rPr/>
              <a:t>Sampling Adequacy</a:t>
            </a:r>
          </a:p>
          <a:p>
            <a:pPr lvl="0"/>
            <a:r>
              <a:rPr b="1"/>
              <a:t>Kaiser-Meyer-Olkin (KMO) Test</a:t>
            </a:r>
            <a:r>
              <a:rPr/>
              <a:t>:</a:t>
            </a:r>
          </a:p>
          <a:p>
            <a:pPr lvl="0"/>
            <a:r>
              <a:rPr/>
              <a:t>Measures sampling adequacy</a:t>
            </a:r>
          </a:p>
          <a:p>
            <a:pPr lvl="0"/>
            <a:r>
              <a:rPr/>
              <a:t>Values &gt; 0.6 = acceptable</a:t>
            </a:r>
          </a:p>
          <a:p>
            <a:pPr lvl="0"/>
            <a:r>
              <a:rPr/>
              <a:t>Values &gt; 0.8 = good</a:t>
            </a:r>
          </a:p>
          <a:p>
            <a:pPr lvl="0" indent="0" marL="0">
              <a:buNone/>
            </a:pPr>
            <a:r>
              <a:rPr/>
              <a:t>Our overall KMO = 0.80 (good!)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KMO test requires psych package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KMO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Kaiser-Meyer-Olkin factor adequacy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Call: KMO(r = cor(darl_numeric))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Overall MSA =  0.76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MSA for each item =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height   mouth_diam    tube_diam    keel_diam wing1_length wing2_length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0.64         0.84         0.47         0.61         0.85         0.80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wingsprea   hoodmass_g   tubemass_g   wingmass_g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0.76         0.78         0.72         0.86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Outlier Detection</a:t>
            </a:r>
          </a:p>
          <a:p>
            <a:pPr lvl="0" indent="0" marL="0">
              <a:buNone/>
            </a:pPr>
            <a:r>
              <a:rPr/>
              <a:t>Check for influential observations:</a:t>
            </a:r>
          </a:p>
        </p:txBody>
      </p:sp>
      <p:pic>
        <p:nvPicPr>
          <p:cNvPr descr="16_lecture_powerpoint_files/figure-pptx/outlier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vs. Other Ordination Methods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/>
                <a:gridCol w="1041400"/>
                <a:gridCol w="1041400"/>
                <a:gridCol w="10414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Distance/Similarity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Eigenanalysis?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Continuous, correlated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Euclidean (correlation)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data, 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Chi-square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NMDS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 abundance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Weighted averaging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Advanced Topics in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Topics We Haven’t Covered</a:t>
            </a:r>
          </a:p>
          <a:p>
            <a:pPr lvl="0"/>
            <a:r>
              <a:rPr b="1"/>
              <a:t>Factor Analysis</a:t>
            </a:r>
            <a:r>
              <a:rPr/>
              <a:t>: - Similar to PCA but with different goals - Assumes latent “factors” cause observed variables - Uses rotation to improve interpretation - More common in social sciences</a:t>
            </a:r>
          </a:p>
          <a:p>
            <a:pPr lvl="0"/>
            <a:r>
              <a:rPr b="1"/>
              <a:t>Robust PCA</a:t>
            </a:r>
            <a:r>
              <a:rPr/>
              <a:t>: - Less sensitive to outliers - Uses robust covariance estimators - Useful with messy ecological data</a:t>
            </a:r>
          </a:p>
          <a:p>
            <a:pPr lvl="0"/>
            <a:r>
              <a:rPr b="1"/>
              <a:t>Sparse PCA</a:t>
            </a:r>
            <a:r>
              <a:rPr/>
              <a:t>: - Forces many loadings to exactly zero - Easier to interpret - Better for very high-dimensional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Functional PCA</a:t>
            </a:r>
            <a:r>
              <a:rPr/>
              <a:t>: - For time series or spatial data - Treats curves as observations - Common in physiology</a:t>
            </a:r>
          </a:p>
          <a:p>
            <a:pPr lvl="0"/>
            <a:r>
              <a:rPr b="1"/>
              <a:t>Probabilistic PCA</a:t>
            </a:r>
            <a:r>
              <a:rPr/>
              <a:t>: - Includes uncertainty estimation - Can handle missing data - Maximum likelihood framework</a:t>
            </a:r>
          </a:p>
          <a:p>
            <a:pPr lvl="0"/>
            <a:r>
              <a:rPr b="1"/>
              <a:t>Kernel PCA</a:t>
            </a:r>
            <a:r>
              <a:rPr/>
              <a:t>: - Handles non-linear relationships - Uses kernel trick from machine learning - More flexible but harder to interpret</a:t>
            </a:r>
            <a:br/>
          </a:p>
          <a:p>
            <a:pPr lvl="0"/>
            <a:r>
              <a:rPr/>
              <a:t>These are beyond our scope but worth knowing exist!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Practical Tips for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PCA:</a:t>
            </a:r>
          </a:p>
          <a:p>
            <a:pPr lvl="0" indent="-342900" marL="342900">
              <a:buAutoNum type="arabicPeriod"/>
            </a:pPr>
            <a:r>
              <a:rPr b="1"/>
              <a:t>Explore your data</a:t>
            </a:r>
          </a:p>
          <a:p>
            <a:pPr lvl="1"/>
            <a:r>
              <a:rPr/>
              <a:t>Check distributions</a:t>
            </a:r>
          </a:p>
          <a:p>
            <a:pPr lvl="1"/>
            <a:r>
              <a:rPr/>
              <a:t>Identify outliers</a:t>
            </a:r>
          </a:p>
          <a:p>
            <a:pPr lvl="1"/>
            <a:r>
              <a:rPr/>
              <a:t>Understand variable scales</a:t>
            </a:r>
          </a:p>
          <a:p>
            <a:pPr lvl="0" indent="-342900" marL="342900">
              <a:buAutoNum type="arabicPeriod"/>
            </a:pPr>
            <a:r>
              <a:rPr b="1"/>
              <a:t>Check correlations</a:t>
            </a:r>
          </a:p>
          <a:p>
            <a:pPr lvl="1"/>
            <a:r>
              <a:rPr/>
              <a:t>Make correlation plot</a:t>
            </a:r>
          </a:p>
          <a:p>
            <a:pPr lvl="1"/>
            <a:r>
              <a:rPr/>
              <a:t>Ensure variables are correlated</a:t>
            </a:r>
          </a:p>
          <a:p>
            <a:pPr lvl="1"/>
            <a:r>
              <a:rPr/>
              <a:t>Consider removing redundant variables</a:t>
            </a:r>
          </a:p>
          <a:p>
            <a:pPr lvl="0" indent="-342900" marL="342900">
              <a:buAutoNum type="arabicPeriod"/>
            </a:pPr>
            <a:r>
              <a:rPr b="1"/>
              <a:t>Standardize appropriately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1"/>
            <a:r>
              <a:rPr/>
              <a:t>Consider centering only for same units</a:t>
            </a:r>
          </a:p>
          <a:p>
            <a:pPr lvl="0" indent="-342900" marL="342900">
              <a:buAutoNum type="arabicPeriod"/>
            </a:pPr>
            <a:r>
              <a:rPr b="1"/>
              <a:t>Check sample size</a:t>
            </a:r>
          </a:p>
          <a:p>
            <a:pPr lvl="1"/>
            <a:r>
              <a:rPr/>
              <a:t>Need at least 3× variables</a:t>
            </a:r>
          </a:p>
          <a:p>
            <a:pPr lvl="1"/>
            <a:r>
              <a:rPr/>
              <a:t>More is better (50+ ideal)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During PCA:</a:t>
            </a:r>
          </a:p>
          <a:p>
            <a:pPr lvl="0" indent="-342900" marL="342900">
              <a:buAutoNum type="arabicPeriod"/>
            </a:pPr>
            <a:r>
              <a:rPr b="1"/>
              <a:t>Examine scree plot</a:t>
            </a:r>
          </a:p>
          <a:p>
            <a:pPr lvl="1"/>
            <a:r>
              <a:rPr/>
              <a:t>Look for elbow</a:t>
            </a:r>
          </a:p>
          <a:p>
            <a:pPr lvl="1"/>
            <a:r>
              <a:rPr/>
              <a:t>Consider cumulative variance</a:t>
            </a:r>
          </a:p>
          <a:p>
            <a:pPr lvl="1"/>
            <a:r>
              <a:rPr/>
              <a:t>Usually keep 2-5 components</a:t>
            </a:r>
          </a:p>
          <a:p>
            <a:pPr lvl="0" indent="-342900" marL="342900">
              <a:buAutoNum type="arabicPeriod"/>
            </a:pPr>
            <a:r>
              <a:rPr b="1"/>
              <a:t>Interpret loadings</a:t>
            </a:r>
          </a:p>
          <a:p>
            <a:pPr lvl="1"/>
            <a:r>
              <a:rPr/>
              <a:t>Look for patterns</a:t>
            </a:r>
          </a:p>
          <a:p>
            <a:pPr lvl="1"/>
            <a:r>
              <a:rPr/>
              <a:t>Consider biological meaning</a:t>
            </a:r>
          </a:p>
          <a:p>
            <a:pPr lvl="1"/>
            <a:r>
              <a:rPr/>
              <a:t>Ignore very small loadings</a:t>
            </a:r>
          </a:p>
          <a:p>
            <a:pPr lvl="0" indent="-342900" marL="342900">
              <a:buAutoNum type="arabicPeriod"/>
            </a:pPr>
            <a:r>
              <a:rPr b="1"/>
              <a:t>Check scores plots</a:t>
            </a:r>
          </a:p>
          <a:p>
            <a:pPr lvl="1"/>
            <a:r>
              <a:rPr/>
              <a:t>Look for outliers</a:t>
            </a:r>
          </a:p>
          <a:p>
            <a:pPr lvl="1"/>
            <a:r>
              <a:rPr/>
              <a:t>Identify patterns/groups</a:t>
            </a:r>
          </a:p>
          <a:p>
            <a:pPr lvl="1"/>
            <a:r>
              <a:rPr/>
              <a:t>Consider site/treatment effects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PCA:</a:t>
            </a:r>
          </a:p>
          <a:p>
            <a:pPr lvl="0" indent="-342900" marL="342900">
              <a:buAutoNum type="arabicPeriod"/>
            </a:pPr>
            <a:r>
              <a:rPr b="1"/>
              <a:t>Report clearly</a:t>
            </a:r>
          </a:p>
          <a:p>
            <a:pPr lvl="1"/>
            <a:r>
              <a:rPr/>
              <a:t>State why you used PCA</a:t>
            </a:r>
          </a:p>
          <a:p>
            <a:pPr lvl="1"/>
            <a:r>
              <a:rPr/>
              <a:t>Report variance explained</a:t>
            </a:r>
          </a:p>
          <a:p>
            <a:pPr lvl="1"/>
            <a:r>
              <a:rPr/>
              <a:t>Describe component interpretation</a:t>
            </a:r>
          </a:p>
          <a:p>
            <a:pPr lvl="0" indent="-342900" marL="342900">
              <a:buAutoNum type="arabicPeriod"/>
            </a:pPr>
            <a:r>
              <a:rPr b="1"/>
              <a:t>Use results appropriately</a:t>
            </a:r>
          </a:p>
          <a:p>
            <a:pPr lvl="1"/>
            <a:r>
              <a:rPr/>
              <a:t>PC scores can go into other analyses</a:t>
            </a:r>
          </a:p>
          <a:p>
            <a:pPr lvl="1"/>
            <a:r>
              <a:rPr/>
              <a:t>Don’t over-interpret small components</a:t>
            </a:r>
          </a:p>
          <a:p>
            <a:pPr lvl="1"/>
            <a:r>
              <a:rPr/>
              <a:t>Remember: exploratory tool!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Reporting PCA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Include in Papers/Theses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Methods Section:</a:t>
            </a:r>
          </a:p>
          <a:p>
            <a:pPr lvl="0" indent="0" marL="0">
              <a:buNone/>
            </a:pPr>
            <a:r>
              <a:rPr/>
              <a:t>“We performed principal component analysis (PCA) on 10 morphological and biomass variables measured on 89 </a:t>
            </a:r>
            <a:r>
              <a:rPr i="1"/>
              <a:t>Darlingtonia californica</a:t>
            </a:r>
            <a:r>
              <a:rPr/>
              <a:t> plants from four sites. Variables were standardized (mean = 0, SD = 1) prior to analysis to account for different measurement scales. PCA was conducted using the </a:t>
            </a:r>
            <a:r>
              <a:rPr>
                <a:latin typeface="Courier"/>
              </a:rPr>
              <a:t>prcomp()</a:t>
            </a:r>
            <a:r>
              <a:rPr/>
              <a:t> function in R. We retained principal components with eigenvalues &gt; 1 and that cumulatively explained &gt;70% of variance.”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Results Section:</a:t>
            </a:r>
          </a:p>
          <a:p>
            <a:pPr lvl="0" indent="0" marL="0">
              <a:buNone/>
            </a:pPr>
            <a:r>
              <a:rPr/>
              <a:t>“The first three principal components explained 77.3% of variance (PC1: 45.8%, PC2: 16.7%, PC3: 14.8%). PC1 represented overall plant size, with high positive loadings for most morphological and biomass variables…”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Essential Figures:</a:t>
            </a:r>
          </a:p>
          <a:p>
            <a:pPr lvl="0" indent="-342900" marL="342900">
              <a:buAutoNum type="arabicPeriod"/>
            </a:pPr>
            <a:r>
              <a:rPr b="1"/>
              <a:t>Scree plot</a:t>
            </a:r>
            <a:r>
              <a:rPr/>
              <a:t> - shows variance explained</a:t>
            </a:r>
          </a:p>
          <a:p>
            <a:pPr lvl="0" indent="-342900" marL="342900">
              <a:buAutoNum type="arabicPeriod"/>
            </a:pPr>
            <a:r>
              <a:rPr b="1"/>
              <a:t>Loadings plot</a:t>
            </a:r>
            <a:r>
              <a:rPr/>
              <a:t> - shows variable contributions</a:t>
            </a:r>
          </a:p>
          <a:p>
            <a:pPr lvl="0" indent="-342900" marL="342900">
              <a:buAutoNum type="arabicPeriod"/>
            </a:pPr>
            <a:r>
              <a:rPr b="1"/>
              <a:t>Scores plot</a:t>
            </a:r>
            <a:r>
              <a:rPr/>
              <a:t> or </a:t>
            </a:r>
            <a:r>
              <a:rPr b="1"/>
              <a:t>biplot</a:t>
            </a:r>
            <a:r>
              <a:rPr/>
              <a:t> - shows samples in PC space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Tables:</a:t>
            </a:r>
          </a:p>
          <a:p>
            <a:pPr lvl="0" indent="-342900" marL="342900">
              <a:buAutoNum type="arabicPeriod"/>
            </a:pPr>
            <a:r>
              <a:rPr b="1"/>
              <a:t>Variance explained</a:t>
            </a:r>
            <a:r>
              <a:rPr/>
              <a:t> by each PC</a:t>
            </a:r>
          </a:p>
          <a:p>
            <a:pPr lvl="0" indent="-342900" marL="342900">
              <a:buAutoNum type="arabicPeriod"/>
            </a:pPr>
            <a:r>
              <a:rPr b="1"/>
              <a:t>Loadings</a:t>
            </a:r>
            <a:r>
              <a:rPr/>
              <a:t> for retained PCs (usually PC1-PC3)</a:t>
            </a:r>
          </a:p>
          <a:p>
            <a:pPr lvl="0" indent="-342900" marL="342900">
              <a:buAutoNum type="arabicPeriod"/>
            </a:pPr>
            <a:r>
              <a:rPr b="1"/>
              <a:t>ANOVA results</a:t>
            </a:r>
            <a:r>
              <a:rPr/>
              <a:t> if testing groups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Don’t Report:</a:t>
            </a:r>
          </a:p>
          <a:p>
            <a:pPr lvl="0"/>
            <a:r>
              <a:rPr/>
              <a:t>All 10 PCs if only 3 are meaningful</a:t>
            </a:r>
          </a:p>
          <a:p>
            <a:pPr lvl="0"/>
            <a:r>
              <a:rPr/>
              <a:t>Tiny loadings (&lt; 0.3)</a:t>
            </a:r>
          </a:p>
          <a:p>
            <a:pPr lvl="0"/>
            <a:r>
              <a:rPr/>
              <a:t>Every individual PC score</a:t>
            </a:r>
          </a:p>
          <a:p>
            <a:pPr lvl="0"/>
            <a:r>
              <a:rPr/>
              <a:t>Raw eigenvalues (report % variance instead)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Common PCA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Mistakes Students Make: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standardizing</a:t>
            </a:r>
            <a:r>
              <a:rPr/>
              <a:t> data with different units</a:t>
            </a:r>
            <a:br/>
            <a:r>
              <a:rPr/>
              <a:t>→ ✓ Always 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to check correlations</a:t>
            </a:r>
            <a:br/>
            <a:r>
              <a:rPr/>
              <a:t>→ ✓ Make correlation plot first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too many components</a:t>
            </a:r>
            <a:br/>
            <a:r>
              <a:rPr/>
              <a:t>→ ✓ Use scree plot, keep components above elbow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Over-interpreting small loadings</a:t>
            </a:r>
            <a:br/>
            <a:r>
              <a:rPr/>
              <a:t>→ ✓ Focus on loadings &gt; |0.3|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Ignoring signs on loadings</a:t>
            </a:r>
            <a:br/>
            <a:r>
              <a:rPr/>
              <a:t>→ ✓ Sign can flip; look at patterns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Treating PC scores as original data</a:t>
            </a:r>
            <a:br/>
            <a:r>
              <a:rPr/>
              <a:t>→ ✓ Remember PCs are derived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Using PCA on categorical data</a:t>
            </a:r>
            <a:br/>
            <a:r>
              <a:rPr/>
              <a:t>→ ✓ Use appropriate method (CA, MCA)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checking for outliers</a:t>
            </a:r>
            <a:br/>
            <a:r>
              <a:rPr/>
              <a:t>→ ✓ Plot scores, check for extreme values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Assuming PCs have biological meaning</a:t>
            </a:r>
            <a:br/>
            <a:r>
              <a:rPr/>
              <a:t>→ ✓ Interpret carefully, components are mathematical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PCA with too few samples</a:t>
            </a:r>
            <a:br/>
            <a:r>
              <a:rPr/>
              <a:t>→ ✓ Need n &gt; 3p (preferably n &gt; 50)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reporting variance explained</a:t>
            </a:r>
            <a:br/>
            <a:r>
              <a:rPr/>
              <a:t>→ ✓ Always report % variance for each PC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that PCA is exploratory</a:t>
            </a:r>
            <a:br/>
            <a:r>
              <a:rPr/>
              <a:t>→ ✓ Use for patterns, not hypothesis testing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1: Subset Analysis</a:t>
            </a:r>
          </a:p>
          <a:p>
            <a:pPr lvl="0" indent="0" marL="0">
              <a:buNone/>
            </a:pPr>
            <a:r>
              <a:rPr/>
              <a:t>Try running PCA on just the </a:t>
            </a:r>
            <a:r>
              <a:rPr b="1"/>
              <a:t>morphological variables</a:t>
            </a:r>
            <a:r>
              <a:rPr/>
              <a:t> (exclude biomass):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 only morphological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darl_morph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(height, mouth_diam, tube_diam,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keel_diam, wing1_length,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wing2_length, wingsprea)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pca_morph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(darl_morph,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Examine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(pca_morph)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How do results differ from full PCA?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2: Site-Specific PCA</a:t>
            </a:r>
          </a:p>
          <a:p>
            <a:pPr lvl="0" indent="0" marL="0">
              <a:buNone/>
            </a:pPr>
            <a:r>
              <a:rPr/>
              <a:t>Run PCA on just one site (e.g., DG):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to one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darl_dg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(site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pca_dg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(darl_dg,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Compare to overall PCA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(pca_dg)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Do the same patterns emerge?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3: Interpretation</a:t>
            </a:r>
          </a:p>
          <a:p>
            <a:pPr lvl="0" indent="-342900" marL="342900">
              <a:buAutoNum type="arabicPeriod"/>
            </a:pPr>
            <a:r>
              <a:rPr/>
              <a:t>What does PC1 represent in each analysis?</a:t>
            </a:r>
          </a:p>
          <a:p>
            <a:pPr lvl="0" indent="-342900" marL="342900">
              <a:buAutoNum type="arabicPeriod"/>
            </a:pPr>
            <a:r>
              <a:rPr/>
              <a:t>How much variance is explained?</a:t>
            </a:r>
          </a:p>
          <a:p>
            <a:pPr lvl="0" indent="-342900" marL="342900">
              <a:buAutoNum type="arabicPeriod"/>
            </a:pPr>
            <a:r>
              <a:rPr/>
              <a:t>Do you see the same patterns?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other ways</a:t>
            </a:r>
          </a:p>
        </p:txBody>
      </p:sp>
      <p:pic>
        <p:nvPicPr>
          <p:cNvPr descr="16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lecture_powerpoint_files/figure-pptx/unnamed-chunk-3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lecture_powerpoint_files/figure-pptx/unnamed-chunk-5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darl_scaled ~ site, data = darlingtonia, permutations = 999, method = "euclidean")
##          Df SumOfSqs      R2      F Pr(&gt;F)    
## Model     3   189.72 0.24512 8.9836  0.001 ***
## Residual 83   584.28 0.75488                  
## Total    86   774.00 1.00000                  
## ---
## Signif. codes:  0 '***' 0.001 '**' 0.01 '*' 0.05 '.' 0.1 ' ' 1</a:t>
            </a:r>
          </a:p>
        </p:txBody>
      </p:sp>
      <p:pic>
        <p:nvPicPr>
          <p:cNvPr descr="16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$parent_call
## [1] "darl_scaled ~ site , strata = Null , permutations 999"
## 
## $TJH_vs_DG
##          Df SumOfSqs      R2      F Pr(&gt;F)    
## Model     1   32.602 0.10636 5.7128  0.001 ***
## Residual 48  273.930 0.89364                  
## Total    49  306.532 1.00000                  
## ---
## Signif. codes:  0 '***' 0.001 '**' 0.01 '*' 0.05 '.' 0.1 ' ' 1
## 
## $TJH_vs_LEH
##          Df SumOfSqs      R2      F Pr(&gt;F)   
## Model     1    47.72 0.10517 5.6414  0.003 **
## Residual 48   406.06 0.89483                 
## Total    49   453.78 1.00000                 
## ---
## Signif. codes:  0 '***' 0.001 '**' 0.01 '*' 0.05 '.' 0.1 ' ' 1
## 
## $TJH_vs_HD
##          Df SumOfSqs      R2      F Pr(&gt;F)    
## Model     1   69.308 0.25135 11.751  0.001 ***
## Residual 35  206.432 0.74865                  
## Total    36  275.740 1.00000                  
## ---
## Signif. codes:  0 '***' 0.001 '**' 0.01 '*' 0.05 '.' 0.1 ' ' 1
## 
## $DG_vs_LEH
##          Df SumOfSqs      R2      F Pr(&gt;F)  
## Model     1    26.24 0.06493 3.3333  0.019 *
## Residual 48   377.85 0.93507                
## Total    49   404.09 1.00000                
## ---
## Signif. codes:  0 '***' 0.001 '**' 0.01 '*' 0.05 '.' 0.1 ' ' 1
## 
## $DG_vs_HD
##          Df SumOfSqs      R2      F Pr(&gt;F)    
## Model     1   131.09 0.42382 25.745  0.001 ***
## Residual 35   178.22 0.57618                  
## Total    36   309.31 1.00000                  
## ---
## Signif. codes:  0 '***' 0.001 '**' 0.01 '*' 0.05 '.' 0.1 ' ' 1
## 
## $LEH_vs_HD
##          Df SumOfSqs     R2      F Pr(&gt;F)    
## Model     1   101.69 0.2468 11.468  0.001 ***
## Residual 35   310.35 0.7532                  
## Total    36   412.04 1.0000                  
## ---
## Signif. codes:  0 '***' 0.001 '**' 0.01 '*' 0.05 '.' 0.1 ' ' 1
## 
## attr(,"class")
## [1] "pwadstrata" "list"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 Pairwise comparisons using permutation MANOVAs on a distance matrix 
## 
## data:  vegdist(darl_scaled, method = "euclidean") by darlingtonia$site
## 999 permutations 
## 
##     DG    HD    LEH  
## HD  0.006 -     -    
## LEH 0.096 0.006 -    
## TJH 0.006 0.006 0.006
## 
## P value adjustment method: bonferroni</a:t>
            </a:r>
          </a:p>
          <a:p>
            <a:pPr lvl="0" indent="0" marL="0">
              <a:buNone/>
            </a:pPr>
            <a:r>
              <a:rPr/>
              <a:t>results come from different statistical tests being used. Let me break down what each is doing: 1. pairwise.adonis2() - PERMANOVA on subsets What it does: For each pair, it subsets the data to just those 2 sites and runs a separate PERMANOVA Results: All p-values ≤ 0.016 (5 of 6 are p = 0.001) Interpretation: Tests if centroids (mean positions) differ between site pairs 2. pairwise.perm.manova() - Different test entirely What it does: Uses a MANOVA-based approach with permutations on the full distance matrix Results: More conservative - DG vs LEH now p = 0.078 (not significant) Interpretation: Also tests centroid differences but uses a different statistical framework</a:t>
            </a:r>
          </a:p>
          <a:p>
            <a:pPr lvl="0" indent="0" marL="0">
              <a:buNone/>
            </a:pPr>
            <a:r>
              <a:rPr/>
              <a:t>Why the differences matter: Location (Centroid) Tests:</a:t>
            </a:r>
          </a:p>
          <a:p>
            <a:pPr lvl="0" indent="0" marL="0">
              <a:buNone/>
            </a:pPr>
            <a:r>
              <a:rPr/>
              <a:t>pairwise.adonis2() and pairwise.perm.manova() both test if site means differ They give slightly different p-values due to different algorithms, but similar conclusions Use these to answer: “Are sites morphologically different?”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2026-05-06T02:23:30Z</dcterms:created>
  <dcterms:modified xsi:type="dcterms:W3CDTF">2026-05-06T02:23:30Z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subtitle">
    <vt:lpwstr>Understanding Multivariate Data with Darlingtonia californica</vt:lpwstr>
  </property>
  <property fmtid="{D5CDD505-2E9C-101B-9397-08002B2CF9AE}" pid="13" name="toc-title">
    <vt:lpwstr>Table of contents</vt:lpwstr>
  </property>
</Properties>
</file>